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Work Sans Medium"/>
      <p:regular r:id="rId19"/>
      <p:bold r:id="rId20"/>
      <p:italic r:id="rId21"/>
      <p:boldItalic r:id="rId22"/>
    </p:embeddedFont>
    <p:embeddedFont>
      <p:font typeface="Work Sans"/>
      <p:regular r:id="rId23"/>
      <p:bold r:id="rId24"/>
      <p:italic r:id="rId25"/>
      <p:boldItalic r:id="rId26"/>
    </p:embeddedFont>
    <p:embeddedFont>
      <p:font typeface="Work Sans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slKlM1xhAfOsDJaof0V2/VfPA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Medium-bold.fntdata"/><Relationship Id="rId22" Type="http://schemas.openxmlformats.org/officeDocument/2006/relationships/font" Target="fonts/WorkSansMedium-boldItalic.fntdata"/><Relationship Id="rId21" Type="http://schemas.openxmlformats.org/officeDocument/2006/relationships/font" Target="fonts/WorkSansMedium-italic.fntdata"/><Relationship Id="rId24" Type="http://schemas.openxmlformats.org/officeDocument/2006/relationships/font" Target="fonts/WorkSans-bold.fntdata"/><Relationship Id="rId23" Type="http://schemas.openxmlformats.org/officeDocument/2006/relationships/font" Target="fonts/Work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-boldItalic.fntdata"/><Relationship Id="rId25" Type="http://schemas.openxmlformats.org/officeDocument/2006/relationships/font" Target="fonts/WorkSans-italic.fntdata"/><Relationship Id="rId28" Type="http://schemas.openxmlformats.org/officeDocument/2006/relationships/font" Target="fonts/WorkSansLight-bold.fntdata"/><Relationship Id="rId27" Type="http://schemas.openxmlformats.org/officeDocument/2006/relationships/font" Target="fonts/WorkSans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WorkSans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WorkSans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WorkSansMedium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f2834e787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g28f2834e787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T0WCL-jzNtCRWIaZvy1cs2X8-g14L6t-/view?usp=drive_link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P2t-SzbIYgEwZQ8jE9_lCDqjSn5cETAd/view?usp=drive_link" TargetMode="External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forms/d/e/1FAIpQLSd74Pa4dBs0mwpj4Cg9EGtlp86jxyO7cFPxQ8rxY_kYGWWf9Q/viewform?usp=sharing" TargetMode="External"/><Relationship Id="rId4" Type="http://schemas.openxmlformats.org/officeDocument/2006/relationships/hyperlink" Target="https://docs.google.com/document/d/18h8jaQXH0i6b4gsNeLpN-qRWpNeasNvH/edit?usp=drive_link&amp;ouid=107424146326664616468&amp;rtpof=true&amp;sd=true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document/d/1ghLLjyvOwvukoQwxhR-qCM4TCBLTDWkN/edit#bookmark=id.2jxsxqh" TargetMode="External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hyperlink" Target="https://drive.google.com/file/d/1KHX-fuUuMpFRs_M4eAXySA0V6Mwf_YYL/view?usp=drive_link" TargetMode="External"/><Relationship Id="rId6" Type="http://schemas.openxmlformats.org/officeDocument/2006/relationships/hyperlink" Target="https://drive.google.com/file/d/1PFA1kHceIuoBQ8eV8KDsVOvjixkrbDeH/view?usp=drive_link" TargetMode="External"/><Relationship Id="rId7" Type="http://schemas.openxmlformats.org/officeDocument/2006/relationships/hyperlink" Target="https://drive.google.com/file/d/1PFA1kHceIuoBQ8eV8KDsVOvjixkrbDeH/view?usp=drive_link" TargetMode="External"/><Relationship Id="rId8" Type="http://schemas.openxmlformats.org/officeDocument/2006/relationships/hyperlink" Target="https://drive.google.com/file/d/1hhB1DdmDQ6fSaoST0AjnYPz8XjYmx-_U/view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ndow" id="96" name="Google Shape;96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470" y="170666"/>
            <a:ext cx="11891530" cy="14803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8004014" y="6085642"/>
            <a:ext cx="405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Análisis y Desarrollo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2944" y="2174350"/>
            <a:ext cx="6746131" cy="373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1657725" y="6242400"/>
            <a:ext cx="40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 Medium"/>
              <a:buNone/>
            </a:pPr>
            <a:r>
              <a:rPr lang="es-MX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Integrantes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6221350" y="2988600"/>
            <a:ext cx="48678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Samuel Useche Chaparro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Sebastian Enrique Florez Varelas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Stiveen </a:t>
            </a: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</a:t>
            </a: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Montiel </a:t>
            </a: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Canchila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s-MX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Johny Molano Patiño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325" y="2371538"/>
            <a:ext cx="4680700" cy="274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11610475" y="6116050"/>
            <a:ext cx="45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Formulación del Proyecto 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473725" y="2413000"/>
            <a:ext cx="43254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MX" sz="3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 Connection</a:t>
            </a:r>
            <a:endParaRPr b="1"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6061402" y="3095758"/>
            <a:ext cx="7200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3"/>
          <p:cNvSpPr txBox="1"/>
          <p:nvPr/>
        </p:nvSpPr>
        <p:spPr>
          <a:xfrm>
            <a:off x="5588425" y="4061800"/>
            <a:ext cx="62628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Tecnológica para la Gestión de la EPS  Compensar, especialmente en la </a:t>
            </a: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solicitudes como citas, </a:t>
            </a: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exámenes</a:t>
            </a:r>
            <a:r>
              <a:rPr lang="es-MX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autorizaciones y afiliaciones. 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2250"/>
            <a:ext cx="5385750" cy="53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11670625" y="6242400"/>
            <a:ext cx="32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/>
        </p:nvSpPr>
        <p:spPr>
          <a:xfrm>
            <a:off x="950054" y="60591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1" i="0" lang="es-MX" sz="30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>
            <a:stCxn id="122" idx="1"/>
          </p:cNvCxnSpPr>
          <p:nvPr/>
        </p:nvCxnSpPr>
        <p:spPr>
          <a:xfrm flipH="1" rot="10800000">
            <a:off x="950054" y="1094467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4"/>
          <p:cNvSpPr txBox="1"/>
          <p:nvPr/>
        </p:nvSpPr>
        <p:spPr>
          <a:xfrm>
            <a:off x="950025" y="1628100"/>
            <a:ext cx="49326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Al implementar el software Health Connection resolverá de manera efectiva las deficiencias del sistema actual de citas médicas en la EPS Compensar.Este sistema revolucionario garantizará una atención médica rápida y eficiente al simplificar una variedad de procesos, tales como la gestión de copagos, la solicitud y entrega de exámenes médicos, así como el seguimiento de tratamientos, entre otros aspectos esenciales de la atención médica. Health Connection se presenta como una solución integral que facilitará el acceso a los servicios médicos para toda la población.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8214"/>
          <a:stretch/>
        </p:blipFill>
        <p:spPr>
          <a:xfrm>
            <a:off x="6561625" y="1363450"/>
            <a:ext cx="5389300" cy="494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11570375" y="6242400"/>
            <a:ext cx="50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3556904" y="465867"/>
            <a:ext cx="5547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1" lang="es-MX" sz="30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Específicos</a:t>
            </a:r>
            <a:endParaRPr b="1" sz="30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2" name="Google Shape;132;p5"/>
          <p:cNvCxnSpPr>
            <a:stCxn id="131" idx="1"/>
            <a:endCxn id="131" idx="3"/>
          </p:cNvCxnSpPr>
          <p:nvPr/>
        </p:nvCxnSpPr>
        <p:spPr>
          <a:xfrm>
            <a:off x="3556904" y="1002417"/>
            <a:ext cx="55479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5"/>
          <p:cNvSpPr txBox="1"/>
          <p:nvPr/>
        </p:nvSpPr>
        <p:spPr>
          <a:xfrm>
            <a:off x="576402" y="1538900"/>
            <a:ext cx="51480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Facilitar la asignación y solicitud de citas médicas.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Hacer más eficiente el proceso de autorización y entrega de medicamentos.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Facilitar el seguimiento y autorización de exámenes.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Seguir controles con los médicos de preferencia de los usuarios.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Reducir el tiempo de espera para la realización de un procedimiento, chequeo, análisis de muestras,etc.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6497900" y="1429750"/>
            <a:ext cx="5148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llevar un mejor control de citas del Eps 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Mejorar el sistema de copago de citas, exámenes y/o medicamentos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dar un mejor servicio de entrega de medicamentos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Ayudar a los doctores y funcionarios a tener un mejor control de su agenda laboral</a:t>
            </a:r>
            <a:endParaRPr sz="20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s-MX" sz="2000">
                <a:solidFill>
                  <a:schemeClr val="dk1"/>
                </a:solidFill>
              </a:rPr>
              <a:t>Desarrollar un software que permita al usuario final desarrollar sus procesos de solicitudes médicas de manera rápida, fácil y eficaz ; sin necesidad de que tenga que hacer numerosos procesos, filas y esperas para lograrlo.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5"/>
          <p:cNvCxnSpPr/>
          <p:nvPr/>
        </p:nvCxnSpPr>
        <p:spPr>
          <a:xfrm rot="10800000">
            <a:off x="3573400" y="6009750"/>
            <a:ext cx="5514900" cy="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5"/>
          <p:cNvSpPr txBox="1"/>
          <p:nvPr/>
        </p:nvSpPr>
        <p:spPr>
          <a:xfrm>
            <a:off x="11730775" y="6242400"/>
            <a:ext cx="28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/>
        </p:nvSpPr>
        <p:spPr>
          <a:xfrm>
            <a:off x="950049" y="605925"/>
            <a:ext cx="6255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1" lang="es-MX" sz="30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b="1" sz="30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42" name="Google Shape;142;p6"/>
          <p:cNvCxnSpPr>
            <a:stCxn id="141" idx="1"/>
          </p:cNvCxnSpPr>
          <p:nvPr/>
        </p:nvCxnSpPr>
        <p:spPr>
          <a:xfrm flipH="1" rot="10800000">
            <a:off x="950049" y="1122975"/>
            <a:ext cx="7271400" cy="195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6"/>
          <p:cNvSpPr txBox="1"/>
          <p:nvPr/>
        </p:nvSpPr>
        <p:spPr>
          <a:xfrm>
            <a:off x="950052" y="1478488"/>
            <a:ext cx="51480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A la hora de realizar una solicitud médica cómo pedir una cita, autorizar o reclamar medicamentos, solicitar exámenes e incluso realizar un simple copago  se hace muy difícil debido a que los canales remotos disponibles pueden ser poco intuitivos y esto hace que los usuarios no tengan la facilidad de pedir una cita médica y tienen que optar por dirigirse a un punto de salud para hacer su solicitud.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800">
                <a:solidFill>
                  <a:schemeClr val="dk1"/>
                </a:solidFill>
              </a:rPr>
              <a:t>Otro problema que surge en este  es la dificultad para obtener información clara y precisa sobre los servicios médicos disponibles, los requisitos para acceder a ellos y los costos asociados. Esto puede generar frustración y ansiedad en los usuarios, especialmente cuando se trata de situaciones urgentes o delicadas.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250" y="1679025"/>
            <a:ext cx="5791349" cy="456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1578500" y="6242400"/>
            <a:ext cx="46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1" lang="es-MX" sz="30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Pregunta del Problema</a:t>
            </a:r>
            <a:endParaRPr b="1" sz="300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51" name="Google Shape;151;p7"/>
          <p:cNvCxnSpPr>
            <a:stCxn id="150" idx="1"/>
          </p:cNvCxnSpPr>
          <p:nvPr/>
        </p:nvCxnSpPr>
        <p:spPr>
          <a:xfrm flipH="1" rot="10800000">
            <a:off x="950054" y="1122932"/>
            <a:ext cx="7893000" cy="195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7"/>
          <p:cNvSpPr txBox="1"/>
          <p:nvPr/>
        </p:nvSpPr>
        <p:spPr>
          <a:xfrm>
            <a:off x="950050" y="3083925"/>
            <a:ext cx="5547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2700">
                <a:solidFill>
                  <a:schemeClr val="dk1"/>
                </a:solidFill>
              </a:rPr>
              <a:t>¿Como resolver las deficiencias y </a:t>
            </a:r>
            <a:r>
              <a:rPr b="1" lang="es-MX" sz="2700">
                <a:solidFill>
                  <a:schemeClr val="dk1"/>
                </a:solidFill>
              </a:rPr>
              <a:t>demoras</a:t>
            </a:r>
            <a:r>
              <a:rPr b="1" lang="es-MX" sz="2700">
                <a:solidFill>
                  <a:schemeClr val="dk1"/>
                </a:solidFill>
              </a:rPr>
              <a:t> del sistema de solicitudes </a:t>
            </a:r>
            <a:r>
              <a:rPr b="1" lang="es-MX" sz="2700">
                <a:solidFill>
                  <a:schemeClr val="dk1"/>
                </a:solidFill>
              </a:rPr>
              <a:t>médicas</a:t>
            </a:r>
            <a:r>
              <a:rPr b="1" lang="es-MX" sz="2700">
                <a:solidFill>
                  <a:schemeClr val="dk1"/>
                </a:solidFill>
              </a:rPr>
              <a:t> de la actualidad?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53" name="Google Shape;15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1952" y="2080000"/>
            <a:ext cx="5263099" cy="35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1578500" y="6242400"/>
            <a:ext cx="46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/>
        </p:nvSpPr>
        <p:spPr>
          <a:xfrm>
            <a:off x="950054" y="605917"/>
            <a:ext cx="5547843" cy="1073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2600"/>
              <a:buFont typeface="Work Sans Light"/>
              <a:buNone/>
            </a:pPr>
            <a:r>
              <a:rPr b="1" lang="es-MX" sz="30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</a:t>
            </a:r>
            <a:r>
              <a:rPr b="0" i="0" lang="es-MX" sz="2600" u="none" cap="none" strike="noStrike">
                <a:solidFill>
                  <a:srgbClr val="38AA00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8"/>
          <p:cNvCxnSpPr>
            <a:stCxn id="159" idx="1"/>
          </p:cNvCxnSpPr>
          <p:nvPr/>
        </p:nvCxnSpPr>
        <p:spPr>
          <a:xfrm flipH="1" rot="10800000">
            <a:off x="950054" y="1094432"/>
            <a:ext cx="5042400" cy="48000"/>
          </a:xfrm>
          <a:prstGeom prst="straightConnector1">
            <a:avLst/>
          </a:prstGeom>
          <a:noFill/>
          <a:ln cap="flat" cmpd="sng" w="508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8"/>
          <p:cNvSpPr txBox="1"/>
          <p:nvPr/>
        </p:nvSpPr>
        <p:spPr>
          <a:xfrm>
            <a:off x="218475" y="1142425"/>
            <a:ext cx="7281300" cy="6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  <a:p>
            <a:pPr indent="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</a:rPr>
              <a:t>Se desarrollará una plataforma que permita a los usuarios de la EPS Compensar acceder de manera fácil y sencilla, agilizando así los procesos administrativos. Esta plataforma estará diseñada para optimizar la asignación de citas médicas, facilitar la autorización y entrega de exámenes médicos, así como simplificar el proceso de autorización y entrega de medicamentos. Además, se buscará mejorar la gestión de pagos tanto para los usuarios como para la Institución Prestadora de Salud (IPS), gestionando eficientemente las agendas de los doctores y facilitando el seguimiento de controles médicos para los pacientes. Se mantendrá actualizado un repertorio de doctores disponibles para citas y se </a:t>
            </a:r>
            <a:r>
              <a:rPr lang="es-MX" sz="1800">
                <a:solidFill>
                  <a:schemeClr val="dk1"/>
                </a:solidFill>
              </a:rPr>
              <a:t>personaliza</a:t>
            </a:r>
            <a:r>
              <a:rPr lang="es-MX" sz="1800">
                <a:solidFill>
                  <a:schemeClr val="dk1"/>
                </a:solidFill>
              </a:rPr>
              <a:t> el software para adaptarse a las necesidades específicas de la IPS, incluso integrándolo con sistemas existentes si fuera necesario. Se llevará a cabo la capacitación del personal de la IPS para garantizar el uso adecuado del software, y se realizarán pruebas exhaustivas para asegurar su funcionamiento óptimo.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278524" y="2326100"/>
            <a:ext cx="3612725" cy="30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1490150" y="6242400"/>
            <a:ext cx="40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Mapas de Procesos 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7956575" y="1584525"/>
            <a:ext cx="3914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MX" sz="1500"/>
              <a:t>MAPA DE PROCESO SIN LA </a:t>
            </a:r>
            <a:r>
              <a:rPr lang="es-MX" sz="1500"/>
              <a:t>IMPLEMENTACIÓN</a:t>
            </a:r>
            <a:r>
              <a:rPr lang="es-MX" sz="1500"/>
              <a:t> DE </a:t>
            </a:r>
            <a:r>
              <a:rPr lang="es-MX" sz="1500"/>
              <a:t>HEALTH CONNECTION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https://drive.google.com/file/d/1T0WCL-jzNtCRWIaZvy1cs2X8-g14L6t-/view?usp=drive_link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83900"/>
            <a:ext cx="7793550" cy="51429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 txBox="1"/>
          <p:nvPr/>
        </p:nvSpPr>
        <p:spPr>
          <a:xfrm>
            <a:off x="11790925" y="6336650"/>
            <a:ext cx="6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f2834e787_0_11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Mapas de Procesos </a:t>
            </a:r>
            <a:endParaRPr/>
          </a:p>
        </p:txBody>
      </p:sp>
      <p:sp>
        <p:nvSpPr>
          <p:cNvPr id="177" name="Google Shape;177;g28f2834e787_0_11"/>
          <p:cNvSpPr txBox="1"/>
          <p:nvPr/>
        </p:nvSpPr>
        <p:spPr>
          <a:xfrm>
            <a:off x="6740450" y="1546450"/>
            <a:ext cx="50706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MX" sz="1500"/>
              <a:t>MAPA DE PROCESO CON LA IMPLEMENTACIÓN DE HEALTH CONNECTION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00" u="sng">
                <a:solidFill>
                  <a:schemeClr val="hlink"/>
                </a:solidFill>
                <a:hlinkClick r:id="rId3"/>
              </a:rPr>
              <a:t>https://drive.google.com/file/d/1P2t-SzbIYgEwZQ8jE9_lCDqjSn5cETAd/view?usp=drive_link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g28f2834e787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25" y="1461225"/>
            <a:ext cx="6448375" cy="539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8f2834e787_0_11"/>
          <p:cNvSpPr txBox="1"/>
          <p:nvPr/>
        </p:nvSpPr>
        <p:spPr>
          <a:xfrm>
            <a:off x="11510100" y="6242400"/>
            <a:ext cx="68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Técnica de Recolección de Datos </a:t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1704650" y="1604650"/>
            <a:ext cx="7902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recolección</a:t>
            </a:r>
            <a:r>
              <a:rPr lang="es-MX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datos la realizamos por medio de una encuesta  que consta de 10 preguntas destinada a los usuarios de las EPS, usamos las respuestas de 30 personas para comprobar la viabilidad de realizar el proyecto.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315325" y="5586900"/>
            <a:ext cx="56166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MX"/>
              <a:t>Vínculo</a:t>
            </a:r>
            <a:r>
              <a:rPr lang="es-MX"/>
              <a:t> a la encuesta de </a:t>
            </a:r>
            <a:r>
              <a:rPr lang="es-MX"/>
              <a:t>recolección</a:t>
            </a:r>
            <a:r>
              <a:rPr lang="es-MX"/>
              <a:t> de datos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https://docs.google.com/forms/d/e/1FAIpQLSd74Pa4dBs0mwpj4Cg9EGtlp86jxyO7cFPxQ8rxY_kYGWWf9Q/viewform?usp=sharing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6424475" y="5586900"/>
            <a:ext cx="56757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MX"/>
              <a:t>Vínculo</a:t>
            </a:r>
            <a:r>
              <a:rPr lang="es-MX"/>
              <a:t> a </a:t>
            </a:r>
            <a:r>
              <a:rPr lang="es-MX"/>
              <a:t>Tabulación</a:t>
            </a:r>
            <a:r>
              <a:rPr lang="es-MX"/>
              <a:t> de datos de la </a:t>
            </a:r>
            <a:r>
              <a:rPr lang="es-MX"/>
              <a:t>recolección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https://docs.google.com/document/d/18h8jaQXH0i6b4gsNeLpN-qRWpNeasNvH/edit?usp=drive_link&amp;ouid=107424146326664616468&amp;rtpof=true&amp;sd=true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0475" y="2695975"/>
            <a:ext cx="2279950" cy="2703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0375" y="2695975"/>
            <a:ext cx="2619407" cy="26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 txBox="1"/>
          <p:nvPr/>
        </p:nvSpPr>
        <p:spPr>
          <a:xfrm>
            <a:off x="11610600" y="6242400"/>
            <a:ext cx="58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Requerimientos  </a:t>
            </a:r>
            <a:endParaRPr/>
          </a:p>
        </p:txBody>
      </p:sp>
      <p:pic>
        <p:nvPicPr>
          <p:cNvPr id="196" name="Google Shape;19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200" y="2522450"/>
            <a:ext cx="5819775" cy="28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/>
          <p:nvPr/>
        </p:nvSpPr>
        <p:spPr>
          <a:xfrm>
            <a:off x="551800" y="5882525"/>
            <a:ext cx="712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u="sng">
                <a:solidFill>
                  <a:schemeClr val="hlink"/>
                </a:solidFill>
                <a:hlinkClick r:id="rId4"/>
              </a:rPr>
              <a:t>Requerimientos Funcionales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379475" y="1537150"/>
            <a:ext cx="300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7675900" y="1537150"/>
            <a:ext cx="300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11640300" y="6282725"/>
            <a:ext cx="55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pic>
        <p:nvPicPr>
          <p:cNvPr id="201" name="Google Shape;20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225" y="2305150"/>
            <a:ext cx="4665455" cy="34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 txBox="1"/>
          <p:nvPr>
            <p:ph type="title"/>
          </p:nvPr>
        </p:nvSpPr>
        <p:spPr>
          <a:xfrm>
            <a:off x="456217" y="330750"/>
            <a:ext cx="10260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lang="es-MX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Mockup  </a:t>
            </a:r>
            <a:endParaRPr/>
          </a:p>
        </p:txBody>
      </p:sp>
      <p:pic>
        <p:nvPicPr>
          <p:cNvPr id="207" name="Google Shape;20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100" y="1561064"/>
            <a:ext cx="3945324" cy="373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2750" y="1561075"/>
            <a:ext cx="6004540" cy="37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 txBox="1"/>
          <p:nvPr/>
        </p:nvSpPr>
        <p:spPr>
          <a:xfrm>
            <a:off x="614725" y="5418425"/>
            <a:ext cx="106893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ADMIN: </a:t>
            </a:r>
            <a:r>
              <a:rPr lang="es-MX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https://drive.google.com/file/d/1KHX-fuUuMpFRs_M4eAXySA0V6Mwf_YYL/view?usp=drive_link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USUARIO: </a:t>
            </a:r>
            <a:r>
              <a:rPr lang="es-MX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https://drive.google.com/file/d/1PFA1kHceIuoBQ8eV8KDsVOvjixkrbDeH/view?usp=drive_link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ENFEMERMERO: </a:t>
            </a:r>
            <a:r>
              <a:rPr lang="es-MX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https://drive.google.com/file/d/1PFA1kHceIuoBQ8eV8KDsVOvjixkrbDeH/view?usp=drive_link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DOCTORES: </a:t>
            </a:r>
            <a:r>
              <a:rPr lang="es-MX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https://drive.google.com/file/d/1hhB1DdmDQ6fSaoST0AjnYPz8XjYmx-_U/view?usp=drive_link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11577300" y="6242400"/>
            <a:ext cx="61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215" name="Google Shape;2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2024-03-15T00:49:27Z</dcterms:created>
  <dc:creator>Carlos Andrés Herrera Mora</dc:creator>
</cp:coreProperties>
</file>