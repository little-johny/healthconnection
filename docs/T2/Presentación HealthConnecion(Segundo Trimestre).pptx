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Work Sans Medium"/>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hb2iArFNjR9JBsisrDwFLcs87S7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WorkSansMedium-bold.fntdata"/><Relationship Id="rId11" Type="http://schemas.openxmlformats.org/officeDocument/2006/relationships/slide" Target="slides/slide7.xml"/><Relationship Id="rId22" Type="http://schemas.openxmlformats.org/officeDocument/2006/relationships/font" Target="fonts/WorkSansMedium-boldItalic.fntdata"/><Relationship Id="rId10" Type="http://schemas.openxmlformats.org/officeDocument/2006/relationships/slide" Target="slides/slide6.xml"/><Relationship Id="rId21" Type="http://schemas.openxmlformats.org/officeDocument/2006/relationships/font" Target="fonts/WorkSansMedium-italic.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WorkSansMedium-regular.fnt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MX"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11" name="Google Shape;1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29" name="Google Shape;1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8f2834e787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40" name="Google Shape;140;g28f2834e787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50" name="Google Shape;15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60" name="Google Shape;16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0" name="Google Shape;1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80" name="Google Shape;1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90" name="Google Shape;19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1214d06cbf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00" name="Google Shape;200;g21214d06cbf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1214d06cbf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210" name="Google Shape;210;g21214d06cbf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20" name="Google Shape;22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5" name="Shape 15"/>
        <p:cNvGrpSpPr/>
        <p:nvPr/>
      </p:nvGrpSpPr>
      <p:grpSpPr>
        <a:xfrm>
          <a:off x="0" y="0"/>
          <a:ext cx="0" cy="0"/>
          <a:chOff x="0" y="0"/>
          <a:chExt cx="0" cy="0"/>
        </a:xfrm>
      </p:grpSpPr>
      <p:sp>
        <p:nvSpPr>
          <p:cNvPr id="16" name="Google Shape;16;p1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6"/>
          <p:cNvSpPr/>
          <p:nvPr>
            <p:ph idx="2" type="pic"/>
          </p:nvPr>
        </p:nvSpPr>
        <p:spPr>
          <a:xfrm>
            <a:off x="5183188" y="987425"/>
            <a:ext cx="6172200" cy="4873625"/>
          </a:xfrm>
          <a:prstGeom prst="rect">
            <a:avLst/>
          </a:prstGeom>
          <a:noFill/>
          <a:ln>
            <a:noFill/>
          </a:ln>
        </p:spPr>
      </p:sp>
      <p:sp>
        <p:nvSpPr>
          <p:cNvPr id="18" name="Google Shape;18;p1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9" name="Google Shape;19;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5" name="Google Shape;25;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26" name="Google Shape;26;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27" name="Shape 27"/>
        <p:cNvGrpSpPr/>
        <p:nvPr/>
      </p:nvGrpSpPr>
      <p:grpSpPr>
        <a:xfrm>
          <a:off x="0" y="0"/>
          <a:ext cx="0" cy="0"/>
          <a:chOff x="0" y="0"/>
          <a:chExt cx="0" cy="0"/>
        </a:xfrm>
      </p:grpSpPr>
      <p:sp>
        <p:nvSpPr>
          <p:cNvPr id="28" name="Google Shape;2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Encabezado de sección">
  <p:cSld name="2_Encabezado de sección">
    <p:spTree>
      <p:nvGrpSpPr>
        <p:cNvPr id="31" name="Shape 31"/>
        <p:cNvGrpSpPr/>
        <p:nvPr/>
      </p:nvGrpSpPr>
      <p:grpSpPr>
        <a:xfrm>
          <a:off x="0" y="0"/>
          <a:ext cx="0" cy="0"/>
          <a:chOff x="0" y="0"/>
          <a:chExt cx="0" cy="0"/>
        </a:xfrm>
      </p:grpSpPr>
      <p:pic>
        <p:nvPicPr>
          <p:cNvPr descr="Patrón de fondo&#10;&#10;Descripción generada automáticamente" id="32" name="Google Shape;32;p18"/>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33" name="Google Shape;33;p18"/>
          <p:cNvPicPr preferRelativeResize="0"/>
          <p:nvPr/>
        </p:nvPicPr>
        <p:blipFill rotWithShape="1">
          <a:blip r:embed="rId3">
            <a:alphaModFix/>
          </a:blip>
          <a:srcRect b="0" l="0" r="0" t="0"/>
          <a:stretch/>
        </p:blipFill>
        <p:spPr>
          <a:xfrm>
            <a:off x="11054859" y="303050"/>
            <a:ext cx="855785" cy="83398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34" name="Shape 34"/>
        <p:cNvGrpSpPr/>
        <p:nvPr/>
      </p:nvGrpSpPr>
      <p:grpSpPr>
        <a:xfrm>
          <a:off x="0" y="0"/>
          <a:ext cx="0" cy="0"/>
          <a:chOff x="0" y="0"/>
          <a:chExt cx="0" cy="0"/>
        </a:xfrm>
      </p:grpSpPr>
      <p:sp>
        <p:nvSpPr>
          <p:cNvPr id="35" name="Google Shape;35;p2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7" name="Google Shape;37;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40" name="Shape 40"/>
        <p:cNvGrpSpPr/>
        <p:nvPr/>
      </p:nvGrpSpPr>
      <p:grpSpPr>
        <a:xfrm>
          <a:off x="0" y="0"/>
          <a:ext cx="0" cy="0"/>
          <a:chOff x="0" y="0"/>
          <a:chExt cx="0" cy="0"/>
        </a:xfrm>
      </p:grpSpPr>
      <p:sp>
        <p:nvSpPr>
          <p:cNvPr id="41" name="Google Shape;41;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46" name="Shape 46"/>
        <p:cNvGrpSpPr/>
        <p:nvPr/>
      </p:nvGrpSpPr>
      <p:grpSpPr>
        <a:xfrm>
          <a:off x="0" y="0"/>
          <a:ext cx="0" cy="0"/>
          <a:chOff x="0" y="0"/>
          <a:chExt cx="0" cy="0"/>
        </a:xfrm>
      </p:grpSpPr>
      <p:sp>
        <p:nvSpPr>
          <p:cNvPr id="47" name="Google Shape;47;p2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9" name="Google Shape;49;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52" name="Shape 52"/>
        <p:cNvGrpSpPr/>
        <p:nvPr/>
      </p:nvGrpSpPr>
      <p:grpSpPr>
        <a:xfrm>
          <a:off x="0" y="0"/>
          <a:ext cx="0" cy="0"/>
          <a:chOff x="0" y="0"/>
          <a:chExt cx="0" cy="0"/>
        </a:xfrm>
      </p:grpSpPr>
      <p:sp>
        <p:nvSpPr>
          <p:cNvPr id="53" name="Google Shape;53;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59" name="Shape 59"/>
        <p:cNvGrpSpPr/>
        <p:nvPr/>
      </p:nvGrpSpPr>
      <p:grpSpPr>
        <a:xfrm>
          <a:off x="0" y="0"/>
          <a:ext cx="0" cy="0"/>
          <a:chOff x="0" y="0"/>
          <a:chExt cx="0" cy="0"/>
        </a:xfrm>
      </p:grpSpPr>
      <p:sp>
        <p:nvSpPr>
          <p:cNvPr id="60" name="Google Shape;60;p2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2" name="Google Shape;62;p2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4" name="Google Shape;64;p2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5" name="Google Shape;65;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68" name="Shape 68"/>
        <p:cNvGrpSpPr/>
        <p:nvPr/>
      </p:nvGrpSpPr>
      <p:grpSpPr>
        <a:xfrm>
          <a:off x="0" y="0"/>
          <a:ext cx="0" cy="0"/>
          <a:chOff x="0" y="0"/>
          <a:chExt cx="0" cy="0"/>
        </a:xfrm>
      </p:grpSpPr>
      <p:sp>
        <p:nvSpPr>
          <p:cNvPr id="69" name="Google Shape;69;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73" name="Shape 73"/>
        <p:cNvGrpSpPr/>
        <p:nvPr/>
      </p:nvGrpSpPr>
      <p:grpSpPr>
        <a:xfrm>
          <a:off x="0" y="0"/>
          <a:ext cx="0" cy="0"/>
          <a:chOff x="0" y="0"/>
          <a:chExt cx="0" cy="0"/>
        </a:xfrm>
      </p:grpSpPr>
      <p:sp>
        <p:nvSpPr>
          <p:cNvPr id="74" name="Google Shape;74;p2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2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6" name="Google Shape;76;p2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0" name="Shape 80"/>
        <p:cNvGrpSpPr/>
        <p:nvPr/>
      </p:nvGrpSpPr>
      <p:grpSpPr>
        <a:xfrm>
          <a:off x="0" y="0"/>
          <a:ext cx="0" cy="0"/>
          <a:chOff x="0" y="0"/>
          <a:chExt cx="0" cy="0"/>
        </a:xfrm>
      </p:grpSpPr>
      <p:sp>
        <p:nvSpPr>
          <p:cNvPr id="81" name="Google Shape;81;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6" name="Shape 86"/>
        <p:cNvGrpSpPr/>
        <p:nvPr/>
      </p:nvGrpSpPr>
      <p:grpSpPr>
        <a:xfrm>
          <a:off x="0" y="0"/>
          <a:ext cx="0" cy="0"/>
          <a:chOff x="0" y="0"/>
          <a:chExt cx="0" cy="0"/>
        </a:xfrm>
      </p:grpSpPr>
      <p:sp>
        <p:nvSpPr>
          <p:cNvPr id="87" name="Google Shape;87;p2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9" name="Google Shape;89;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MX"/>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docs.google.com/document/d/1dU48QuSq47d-V7wt9ktcZg-8PiB6xrIF/edit?usp=drive_link&amp;ouid=107424146326664616468&amp;rtpof=true&amp;sd=true" TargetMode="External"/><Relationship Id="rId4" Type="http://schemas.openxmlformats.org/officeDocument/2006/relationships/hyperlink" Target="https://drive.google.com/drive/folders/1m4sMOUVxL5waGnWmeOGFOYYvoHE_44SZ?usp=drive_link" TargetMode="External"/><Relationship Id="rId5" Type="http://schemas.openxmlformats.org/officeDocument/2006/relationships/hyperlink" Target="https://drive.google.com/drive/folders/1iiXSWoGML1PI-QB7EUMIt8Dd95ZBF1kd?usp=drive_link" TargetMode="External"/><Relationship Id="rId6" Type="http://schemas.openxmlformats.org/officeDocument/2006/relationships/hyperlink" Target="https://drive.google.com/drive/folders/1Mfsqj9YSuX0S0fCxSTEDWcoMFD_za7qa?usp=drive_link" TargetMode="External"/><Relationship Id="rId7" Type="http://schemas.openxmlformats.org/officeDocument/2006/relationships/hyperlink" Target="https://docs.google.com/document/d/1ghLLjyvOwvukoQwxhR-qCM4TCBLTDWkN/edit?usp=drive_link&amp;ouid=107424146326664616468&amp;rtpof=true&amp;sd=true" TargetMode="External"/><Relationship Id="rId8"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rive.google.com/drive/folders/1S41EXUqjE3DfH6V61yk_BKV0bE0Hha87?usp=drive_link" TargetMode="External"/><Relationship Id="rId4" Type="http://schemas.openxmlformats.org/officeDocument/2006/relationships/hyperlink" Target="https://drive.google.com/drive/folders/1S41EXUqjE3DfH6V61yk_BKV0bE0Hha87?usp=drive_link" TargetMode="External"/><Relationship Id="rId5" Type="http://schemas.openxmlformats.org/officeDocument/2006/relationships/image" Target="../media/image8.png"/><Relationship Id="rId6" Type="http://schemas.openxmlformats.org/officeDocument/2006/relationships/image" Target="../media/image11.png"/><Relationship Id="rId7"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hyperlink" Target="https://drive.google.com/drive/folders/1NwO1gEIYO7N3ja_O9E-FKkqkoQxunEvW?usp=drive_link" TargetMode="External"/><Relationship Id="rId5"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docs.google.com/spreadsheets/d/1UE0mgBgJciXqa8L6iid9DVZufLRAamRU/edit?usp=drive_link&amp;ouid=107424146326664616468&amp;rtpof=true&amp;sd=true" TargetMode="External"/><Relationship Id="rId4" Type="http://schemas.openxmlformats.org/officeDocument/2006/relationships/image" Target="../media/image9.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hyperlink" Target="https://drive.google.com/drive/folders/1P6Yv8aXKqbrPoICW_Tx2S7wVjlkHjxoU?usp=drive_link" TargetMode="External"/><Relationship Id="rId5"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hyperlink" Target="https://drive.google.com/file/d/1og-Y7yhMnyZgXTb8hs5H0mLzD-u4gd7a/view?usp=drive_link" TargetMode="External"/><Relationship Id="rId5"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hyperlink" Target="https://docs.google.com/spreadsheets/d/1ZZap5EcuEiMrVgIT4_MHG81leo3ujSuQJQmsn-1Hpf8/edit?usp=drive_link" TargetMode="External"/><Relationship Id="rId5"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hyperlink" Target="https://drive.google.com/drive/folders/1k7WycOLyf_tk8dFyjl2fysNRJ-wr0eaN?usp=drive_link" TargetMode="External"/><Relationship Id="rId5"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hyperlink" Target="https://drive.google.com/drive/folders/1Jr12q1H8htIsqbCBH6aUg1rWPV04xe8q?usp=drive_link" TargetMode="External"/><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hyperlink" Target="https://github.com/little-Johny/ADSOT2.git" TargetMode="External"/><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descr="Window" id="96" name="Google Shape;96;p1"/>
          <p:cNvPicPr preferRelativeResize="0"/>
          <p:nvPr>
            <p:ph idx="2" type="pic"/>
          </p:nvPr>
        </p:nvPicPr>
        <p:blipFill rotWithShape="1">
          <a:blip r:embed="rId3">
            <a:alphaModFix/>
          </a:blip>
          <a:srcRect b="0" l="0" r="0" t="0"/>
          <a:stretch/>
        </p:blipFill>
        <p:spPr>
          <a:xfrm>
            <a:off x="300470" y="170666"/>
            <a:ext cx="11891530" cy="1480366"/>
          </a:xfrm>
          <a:prstGeom prst="rect">
            <a:avLst/>
          </a:prstGeom>
          <a:noFill/>
          <a:ln>
            <a:noFill/>
          </a:ln>
        </p:spPr>
      </p:pic>
      <p:sp>
        <p:nvSpPr>
          <p:cNvPr id="97" name="Google Shape;97;p1"/>
          <p:cNvSpPr txBox="1"/>
          <p:nvPr/>
        </p:nvSpPr>
        <p:spPr>
          <a:xfrm>
            <a:off x="8004014" y="6085642"/>
            <a:ext cx="40548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s-MX" sz="2000" u="none" cap="none" strike="noStrike">
                <a:solidFill>
                  <a:schemeClr val="accent6"/>
                </a:solidFill>
                <a:latin typeface="Calibri"/>
                <a:ea typeface="Calibri"/>
                <a:cs typeface="Calibri"/>
                <a:sym typeface="Calibri"/>
              </a:rPr>
              <a:t>Análisis y Desarrollo de Software</a:t>
            </a:r>
            <a:endParaRPr b="0" i="0" sz="1400" u="none" cap="none" strike="noStrike">
              <a:solidFill>
                <a:srgbClr val="000000"/>
              </a:solidFill>
              <a:latin typeface="Arial"/>
              <a:ea typeface="Arial"/>
              <a:cs typeface="Arial"/>
              <a:sym typeface="Arial"/>
            </a:endParaRPr>
          </a:p>
        </p:txBody>
      </p:sp>
      <p:pic>
        <p:nvPicPr>
          <p:cNvPr id="98" name="Google Shape;98;p1"/>
          <p:cNvPicPr preferRelativeResize="0"/>
          <p:nvPr/>
        </p:nvPicPr>
        <p:blipFill rotWithShape="1">
          <a:blip r:embed="rId4">
            <a:alphaModFix/>
          </a:blip>
          <a:srcRect b="0" l="0" r="0" t="0"/>
          <a:stretch/>
        </p:blipFill>
        <p:spPr>
          <a:xfrm>
            <a:off x="2722944" y="2174350"/>
            <a:ext cx="6746131" cy="3730825"/>
          </a:xfrm>
          <a:prstGeom prst="rect">
            <a:avLst/>
          </a:prstGeom>
          <a:noFill/>
          <a:ln>
            <a:noFill/>
          </a:ln>
        </p:spPr>
      </p:pic>
      <p:sp>
        <p:nvSpPr>
          <p:cNvPr id="99" name="Google Shape;99;p1"/>
          <p:cNvSpPr txBox="1"/>
          <p:nvPr/>
        </p:nvSpPr>
        <p:spPr>
          <a:xfrm>
            <a:off x="11657725" y="6242400"/>
            <a:ext cx="4011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1</a:t>
            </a:r>
            <a:endParaRPr b="0" i="0" sz="2800" u="none" cap="none" strike="noStrike">
              <a:solidFill>
                <a:schemeClr val="accent6"/>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
          <p:cNvSpPr txBox="1"/>
          <p:nvPr>
            <p:ph type="title"/>
          </p:nvPr>
        </p:nvSpPr>
        <p:spPr>
          <a:xfrm>
            <a:off x="456236" y="11048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Work Sans Medium"/>
              <a:buNone/>
            </a:pPr>
            <a:r>
              <a:rPr lang="es-MX">
                <a:solidFill>
                  <a:schemeClr val="lt1"/>
                </a:solidFill>
                <a:latin typeface="Work Sans Medium"/>
                <a:ea typeface="Work Sans Medium"/>
                <a:cs typeface="Work Sans Medium"/>
                <a:sym typeface="Work Sans Medium"/>
              </a:rPr>
              <a:t>Integrantes</a:t>
            </a:r>
            <a:endParaRPr/>
          </a:p>
        </p:txBody>
      </p:sp>
      <p:sp>
        <p:nvSpPr>
          <p:cNvPr id="105" name="Google Shape;105;p2"/>
          <p:cNvSpPr txBox="1"/>
          <p:nvPr/>
        </p:nvSpPr>
        <p:spPr>
          <a:xfrm>
            <a:off x="6221350" y="2988600"/>
            <a:ext cx="4867800" cy="15084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2300"/>
              <a:buFont typeface="Arial"/>
              <a:buChar char="•"/>
            </a:pPr>
            <a:r>
              <a:rPr b="0" i="0" lang="es-MX" sz="2300" u="none" cap="none" strike="noStrike">
                <a:solidFill>
                  <a:schemeClr val="dk1"/>
                </a:solidFill>
                <a:latin typeface="Calibri"/>
                <a:ea typeface="Calibri"/>
                <a:cs typeface="Calibri"/>
                <a:sym typeface="Calibri"/>
              </a:rPr>
              <a:t>Samuel Useche Chaparro</a:t>
            </a:r>
            <a:endParaRPr b="0" i="0" sz="19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300"/>
              <a:buFont typeface="Arial"/>
              <a:buChar char="•"/>
            </a:pPr>
            <a:r>
              <a:rPr b="0" i="0" lang="es-MX" sz="2300" u="none" cap="none" strike="noStrike">
                <a:solidFill>
                  <a:schemeClr val="dk1"/>
                </a:solidFill>
                <a:latin typeface="Calibri"/>
                <a:ea typeface="Calibri"/>
                <a:cs typeface="Calibri"/>
                <a:sym typeface="Calibri"/>
              </a:rPr>
              <a:t>Sebastian Enrique Florez Varelas</a:t>
            </a:r>
            <a:endParaRPr b="0" i="0" sz="19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300"/>
              <a:buFont typeface="Arial"/>
              <a:buChar char="•"/>
            </a:pPr>
            <a:r>
              <a:rPr b="0" i="0" lang="es-MX" sz="2300" u="none" cap="none" strike="noStrike">
                <a:solidFill>
                  <a:schemeClr val="dk1"/>
                </a:solidFill>
                <a:latin typeface="Calibri"/>
                <a:ea typeface="Calibri"/>
                <a:cs typeface="Calibri"/>
                <a:sym typeface="Calibri"/>
              </a:rPr>
              <a:t>Stiveen David Montiel Canchila</a:t>
            </a:r>
            <a:endParaRPr b="0" i="0" sz="1900" u="none" cap="none" strike="noStrike">
              <a:solidFill>
                <a:srgbClr val="000000"/>
              </a:solidFill>
              <a:latin typeface="Arial"/>
              <a:ea typeface="Arial"/>
              <a:cs typeface="Arial"/>
              <a:sym typeface="Arial"/>
            </a:endParaRPr>
          </a:p>
          <a:p>
            <a:pPr indent="-285750" lvl="0" marL="285750" marR="0" rtl="0" algn="l">
              <a:lnSpc>
                <a:spcPct val="100000"/>
              </a:lnSpc>
              <a:spcBef>
                <a:spcPts val="0"/>
              </a:spcBef>
              <a:spcAft>
                <a:spcPts val="0"/>
              </a:spcAft>
              <a:buClr>
                <a:schemeClr val="dk1"/>
              </a:buClr>
              <a:buSzPts val="2300"/>
              <a:buFont typeface="Arial"/>
              <a:buChar char="•"/>
            </a:pPr>
            <a:r>
              <a:rPr b="0" i="0" lang="es-MX" sz="2300" u="none" cap="none" strike="noStrike">
                <a:solidFill>
                  <a:schemeClr val="dk1"/>
                </a:solidFill>
                <a:latin typeface="Calibri"/>
                <a:ea typeface="Calibri"/>
                <a:cs typeface="Calibri"/>
                <a:sym typeface="Calibri"/>
              </a:rPr>
              <a:t>Johny Molano Patiño</a:t>
            </a:r>
            <a:endParaRPr b="0" i="0" sz="1900" u="none" cap="none" strike="noStrike">
              <a:solidFill>
                <a:srgbClr val="000000"/>
              </a:solidFill>
              <a:latin typeface="Arial"/>
              <a:ea typeface="Arial"/>
              <a:cs typeface="Arial"/>
              <a:sym typeface="Arial"/>
            </a:endParaRPr>
          </a:p>
        </p:txBody>
      </p:sp>
      <p:pic>
        <p:nvPicPr>
          <p:cNvPr id="106" name="Google Shape;106;p2"/>
          <p:cNvPicPr preferRelativeResize="0"/>
          <p:nvPr/>
        </p:nvPicPr>
        <p:blipFill rotWithShape="1">
          <a:blip r:embed="rId3">
            <a:alphaModFix/>
          </a:blip>
          <a:srcRect b="0" l="0" r="0" t="0"/>
          <a:stretch/>
        </p:blipFill>
        <p:spPr>
          <a:xfrm>
            <a:off x="1039325" y="2371538"/>
            <a:ext cx="4680700" cy="2742525"/>
          </a:xfrm>
          <a:prstGeom prst="rect">
            <a:avLst/>
          </a:prstGeom>
          <a:noFill/>
          <a:ln>
            <a:noFill/>
          </a:ln>
        </p:spPr>
      </p:pic>
      <p:sp>
        <p:nvSpPr>
          <p:cNvPr id="107" name="Google Shape;107;p2"/>
          <p:cNvSpPr txBox="1"/>
          <p:nvPr/>
        </p:nvSpPr>
        <p:spPr>
          <a:xfrm>
            <a:off x="11610475" y="6116050"/>
            <a:ext cx="456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p:txBody>
      </p:sp>
      <p:pic>
        <p:nvPicPr>
          <p:cNvPr id="108" name="Google Shape;108;p2"/>
          <p:cNvPicPr preferRelativeResize="0"/>
          <p:nvPr/>
        </p:nvPicPr>
        <p:blipFill rotWithShape="1">
          <a:blip r:embed="rId4">
            <a:alphaModFix/>
          </a:blip>
          <a:srcRect b="0" l="0" r="0" t="0"/>
          <a:stretch/>
        </p:blipFill>
        <p:spPr>
          <a:xfrm>
            <a:off x="9905999" y="5138825"/>
            <a:ext cx="1764625" cy="975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396042" y="2505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Documentación</a:t>
            </a:r>
            <a:endParaRPr/>
          </a:p>
        </p:txBody>
      </p:sp>
      <p:sp>
        <p:nvSpPr>
          <p:cNvPr id="114" name="Google Shape;114;p3"/>
          <p:cNvSpPr txBox="1"/>
          <p:nvPr/>
        </p:nvSpPr>
        <p:spPr>
          <a:xfrm rot="-472">
            <a:off x="2961250" y="1942963"/>
            <a:ext cx="6548400" cy="1723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600"/>
              <a:buFont typeface="Arial"/>
              <a:buNone/>
            </a:pPr>
            <a:r>
              <a:rPr b="1" i="0" lang="es-MX" sz="7000" u="none" cap="none" strike="noStrike">
                <a:solidFill>
                  <a:schemeClr val="dk1"/>
                </a:solidFill>
                <a:latin typeface="Calibri"/>
                <a:ea typeface="Calibri"/>
                <a:cs typeface="Calibri"/>
                <a:sym typeface="Calibri"/>
              </a:rPr>
              <a:t>Primer Trimestre</a:t>
            </a:r>
            <a:endParaRPr b="1" i="0" sz="7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3600"/>
              <a:buFont typeface="Arial"/>
              <a:buNone/>
            </a:pPr>
            <a:r>
              <a:t/>
            </a:r>
            <a:endParaRPr b="0" i="0" sz="3600" u="none" cap="none" strike="noStrike">
              <a:solidFill>
                <a:schemeClr val="dk1"/>
              </a:solidFill>
              <a:latin typeface="Calibri"/>
              <a:ea typeface="Calibri"/>
              <a:cs typeface="Calibri"/>
              <a:sym typeface="Calibri"/>
            </a:endParaRPr>
          </a:p>
        </p:txBody>
      </p:sp>
      <p:sp>
        <p:nvSpPr>
          <p:cNvPr id="115" name="Google Shape;115;p3"/>
          <p:cNvSpPr txBox="1"/>
          <p:nvPr/>
        </p:nvSpPr>
        <p:spPr>
          <a:xfrm>
            <a:off x="1181100" y="3162300"/>
            <a:ext cx="7601100" cy="2632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s-MX" sz="2800" u="none" cap="none" strike="noStrike">
                <a:solidFill>
                  <a:schemeClr val="dk1"/>
                </a:solidFill>
                <a:latin typeface="Arial"/>
                <a:ea typeface="Arial"/>
                <a:cs typeface="Arial"/>
                <a:sym typeface="Arial"/>
              </a:rPr>
              <a:t>-</a:t>
            </a:r>
            <a:r>
              <a:rPr b="0" i="0" lang="es-MX" sz="2800" u="sng" cap="none" strike="noStrike">
                <a:solidFill>
                  <a:schemeClr val="hlink"/>
                </a:solidFill>
                <a:latin typeface="Arial"/>
                <a:ea typeface="Arial"/>
                <a:cs typeface="Arial"/>
                <a:sym typeface="Arial"/>
                <a:hlinkClick r:id="rId3"/>
              </a:rPr>
              <a:t>Formato de proyecto</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s-MX" sz="2800" u="none" cap="none" strike="noStrike">
                <a:solidFill>
                  <a:schemeClr val="dk1"/>
                </a:solidFill>
                <a:latin typeface="Arial"/>
                <a:ea typeface="Arial"/>
                <a:cs typeface="Arial"/>
                <a:sym typeface="Arial"/>
              </a:rPr>
              <a:t>-</a:t>
            </a:r>
            <a:r>
              <a:rPr b="0" i="0" lang="es-MX" sz="2800" u="sng" cap="none" strike="noStrike">
                <a:solidFill>
                  <a:schemeClr val="hlink"/>
                </a:solidFill>
                <a:latin typeface="Arial"/>
                <a:ea typeface="Arial"/>
                <a:cs typeface="Arial"/>
                <a:sym typeface="Arial"/>
                <a:hlinkClick r:id="rId4"/>
              </a:rPr>
              <a:t>Encuesta de viabilidad</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s-MX" sz="2800" u="none" cap="none" strike="noStrike">
                <a:solidFill>
                  <a:schemeClr val="dk1"/>
                </a:solidFill>
                <a:latin typeface="Arial"/>
                <a:ea typeface="Arial"/>
                <a:cs typeface="Arial"/>
                <a:sym typeface="Arial"/>
              </a:rPr>
              <a:t>-</a:t>
            </a:r>
            <a:r>
              <a:rPr b="0" i="0" lang="es-MX" sz="2800" u="sng" cap="none" strike="noStrike">
                <a:solidFill>
                  <a:schemeClr val="hlink"/>
                </a:solidFill>
                <a:latin typeface="Arial"/>
                <a:ea typeface="Arial"/>
                <a:cs typeface="Arial"/>
                <a:sym typeface="Arial"/>
                <a:hlinkClick r:id="rId5"/>
              </a:rPr>
              <a:t>Mapas de procesos</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s-MX" sz="2800" u="none" cap="none" strike="noStrike">
                <a:solidFill>
                  <a:schemeClr val="dk1"/>
                </a:solidFill>
                <a:latin typeface="Arial"/>
                <a:ea typeface="Arial"/>
                <a:cs typeface="Arial"/>
                <a:sym typeface="Arial"/>
              </a:rPr>
              <a:t>-</a:t>
            </a:r>
            <a:r>
              <a:rPr b="0" i="0" lang="es-MX" sz="2800" u="sng" cap="none" strike="noStrike">
                <a:solidFill>
                  <a:schemeClr val="hlink"/>
                </a:solidFill>
                <a:latin typeface="Arial"/>
                <a:ea typeface="Arial"/>
                <a:cs typeface="Arial"/>
                <a:sym typeface="Arial"/>
                <a:hlinkClick r:id="rId6"/>
              </a:rPr>
              <a:t>Mockup</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s-MX" sz="2800" u="none" cap="none" strike="noStrike">
                <a:solidFill>
                  <a:schemeClr val="dk1"/>
                </a:solidFill>
                <a:latin typeface="Arial"/>
                <a:ea typeface="Arial"/>
                <a:cs typeface="Arial"/>
                <a:sym typeface="Arial"/>
              </a:rPr>
              <a:t>-</a:t>
            </a:r>
            <a:r>
              <a:rPr b="0" i="0" lang="es-MX" sz="2800" u="sng" cap="none" strike="noStrike">
                <a:solidFill>
                  <a:schemeClr val="hlink"/>
                </a:solidFill>
                <a:latin typeface="Arial"/>
                <a:ea typeface="Arial"/>
                <a:cs typeface="Arial"/>
                <a:sym typeface="Arial"/>
                <a:hlinkClick r:id="rId7"/>
              </a:rPr>
              <a:t>Norma IEEE830</a:t>
            </a:r>
            <a:endParaRPr b="0" i="0" sz="2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2500" u="none" cap="none" strike="noStrike">
              <a:solidFill>
                <a:schemeClr val="dk1"/>
              </a:solidFill>
              <a:latin typeface="Calibri"/>
              <a:ea typeface="Calibri"/>
              <a:cs typeface="Calibri"/>
              <a:sym typeface="Calibri"/>
            </a:endParaRPr>
          </a:p>
        </p:txBody>
      </p:sp>
      <p:sp>
        <p:nvSpPr>
          <p:cNvPr id="116" name="Google Shape;116;p3"/>
          <p:cNvSpPr txBox="1"/>
          <p:nvPr/>
        </p:nvSpPr>
        <p:spPr>
          <a:xfrm>
            <a:off x="11670625" y="6242400"/>
            <a:ext cx="321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pic>
        <p:nvPicPr>
          <p:cNvPr id="117" name="Google Shape;117;p3"/>
          <p:cNvPicPr preferRelativeResize="0"/>
          <p:nvPr/>
        </p:nvPicPr>
        <p:blipFill rotWithShape="1">
          <a:blip r:embed="rId8">
            <a:alphaModFix/>
          </a:blip>
          <a:srcRect b="0" l="0" r="0" t="0"/>
          <a:stretch/>
        </p:blipFill>
        <p:spPr>
          <a:xfrm>
            <a:off x="9905999" y="5138825"/>
            <a:ext cx="1764625" cy="975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396042" y="2505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HealthConnection</a:t>
            </a:r>
            <a:endParaRPr/>
          </a:p>
        </p:txBody>
      </p:sp>
      <p:sp>
        <p:nvSpPr>
          <p:cNvPr id="123" name="Google Shape;123;p4"/>
          <p:cNvSpPr txBox="1"/>
          <p:nvPr/>
        </p:nvSpPr>
        <p:spPr>
          <a:xfrm>
            <a:off x="11670625" y="6242400"/>
            <a:ext cx="321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3</a:t>
            </a:r>
            <a:endParaRPr b="0" i="0" sz="1400" u="none" cap="none" strike="noStrike">
              <a:solidFill>
                <a:srgbClr val="000000"/>
              </a:solidFill>
              <a:latin typeface="Arial"/>
              <a:ea typeface="Arial"/>
              <a:cs typeface="Arial"/>
              <a:sym typeface="Arial"/>
            </a:endParaRPr>
          </a:p>
        </p:txBody>
      </p:sp>
      <p:pic>
        <p:nvPicPr>
          <p:cNvPr id="124" name="Google Shape;124;p4"/>
          <p:cNvPicPr preferRelativeResize="0"/>
          <p:nvPr/>
        </p:nvPicPr>
        <p:blipFill rotWithShape="1">
          <a:blip r:embed="rId3">
            <a:alphaModFix/>
          </a:blip>
          <a:srcRect b="0" l="0" r="0" t="0"/>
          <a:stretch/>
        </p:blipFill>
        <p:spPr>
          <a:xfrm>
            <a:off x="10453343" y="5441525"/>
            <a:ext cx="1217282" cy="673200"/>
          </a:xfrm>
          <a:prstGeom prst="rect">
            <a:avLst/>
          </a:prstGeom>
          <a:noFill/>
          <a:ln>
            <a:noFill/>
          </a:ln>
        </p:spPr>
      </p:pic>
      <p:sp>
        <p:nvSpPr>
          <p:cNvPr id="125" name="Google Shape;125;p4"/>
          <p:cNvSpPr txBox="1"/>
          <p:nvPr/>
        </p:nvSpPr>
        <p:spPr>
          <a:xfrm>
            <a:off x="2851612" y="1963632"/>
            <a:ext cx="6488700" cy="347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000" u="none" cap="none" strike="noStrike">
                <a:solidFill>
                  <a:srgbClr val="000000"/>
                </a:solidFill>
                <a:latin typeface="Arial"/>
                <a:ea typeface="Arial"/>
                <a:cs typeface="Arial"/>
                <a:sym typeface="Arial"/>
              </a:rPr>
              <a:t>El proyecto surge como una respuesta innovadora a las deficiencias observadas en el sistema actual de gestión médica. En un contexto donde la eficiencia y la rapidez en la atención médica son cruciales, HealthConnection se posiciona como una solución integral destinada a mejorar significativamente la experiencia tanto de los pacientes como de los profesionales de la salud. Con el objetivo de simplificar y optimizar estos procesos, HealthConnection integra diversas funcionalidades que permiten una gestión más eficiente de las citas médicas y otros aspectos esenciales de la atención sanitaria.</a:t>
            </a:r>
            <a:endParaRPr b="0" i="0" sz="2000" u="none" cap="none" strike="noStrike">
              <a:solidFill>
                <a:srgbClr val="000000"/>
              </a:solidFill>
              <a:latin typeface="Arial"/>
              <a:ea typeface="Arial"/>
              <a:cs typeface="Arial"/>
              <a:sym typeface="Arial"/>
            </a:endParaRPr>
          </a:p>
        </p:txBody>
      </p:sp>
      <p:cxnSp>
        <p:nvCxnSpPr>
          <p:cNvPr id="126" name="Google Shape;126;p4"/>
          <p:cNvCxnSpPr/>
          <p:nvPr/>
        </p:nvCxnSpPr>
        <p:spPr>
          <a:xfrm>
            <a:off x="2613284" y="5626775"/>
            <a:ext cx="6727200" cy="0"/>
          </a:xfrm>
          <a:prstGeom prst="straightConnector1">
            <a:avLst/>
          </a:prstGeom>
          <a:noFill/>
          <a:ln cap="flat" cmpd="sng" w="38100">
            <a:solidFill>
              <a:srgbClr val="92D050"/>
            </a:solidFill>
            <a:prstDash val="solid"/>
            <a:round/>
            <a:headEnd len="sm" w="sm" type="none"/>
            <a:tailEnd len="sm" w="sm" type="none"/>
          </a:ln>
          <a:effectLst>
            <a:outerShdw blurRad="40000" rotWithShape="0" dir="5400000" dist="23000">
              <a:srgbClr val="000000">
                <a:alpha val="34900"/>
              </a:srgbClr>
            </a:outerShdw>
          </a:effectLst>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Fichas técnicas</a:t>
            </a:r>
            <a:endParaRPr/>
          </a:p>
        </p:txBody>
      </p:sp>
      <p:sp>
        <p:nvSpPr>
          <p:cNvPr id="132" name="Google Shape;132;p9"/>
          <p:cNvSpPr txBox="1"/>
          <p:nvPr/>
        </p:nvSpPr>
        <p:spPr>
          <a:xfrm>
            <a:off x="11790925" y="6336650"/>
            <a:ext cx="601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9</a:t>
            </a:r>
            <a:endParaRPr b="0" i="0" sz="1400" u="none" cap="none" strike="noStrike">
              <a:solidFill>
                <a:srgbClr val="000000"/>
              </a:solidFill>
              <a:latin typeface="Arial"/>
              <a:ea typeface="Arial"/>
              <a:cs typeface="Arial"/>
              <a:sym typeface="Arial"/>
            </a:endParaRPr>
          </a:p>
        </p:txBody>
      </p:sp>
      <p:sp>
        <p:nvSpPr>
          <p:cNvPr id="133" name="Google Shape;133;p9">
            <a:hlinkClick r:id="rId3"/>
          </p:cNvPr>
          <p:cNvSpPr txBox="1"/>
          <p:nvPr/>
        </p:nvSpPr>
        <p:spPr>
          <a:xfrm>
            <a:off x="605085" y="5721050"/>
            <a:ext cx="2407938" cy="58474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MX" sz="2600" u="sng" cap="none" strike="noStrike">
                <a:solidFill>
                  <a:schemeClr val="hlink"/>
                </a:solidFill>
                <a:latin typeface="Calibri"/>
                <a:ea typeface="Calibri"/>
                <a:cs typeface="Calibri"/>
                <a:sym typeface="Calibri"/>
                <a:hlinkClick r:id="rId4"/>
              </a:rPr>
              <a:t>Matriz Técnica</a:t>
            </a:r>
            <a:endParaRPr b="0" i="0" sz="2600" u="none" cap="none" strike="noStrike">
              <a:solidFill>
                <a:schemeClr val="dk1"/>
              </a:solidFill>
              <a:latin typeface="Calibri"/>
              <a:ea typeface="Calibri"/>
              <a:cs typeface="Calibri"/>
              <a:sym typeface="Calibri"/>
            </a:endParaRPr>
          </a:p>
        </p:txBody>
      </p:sp>
      <p:pic>
        <p:nvPicPr>
          <p:cNvPr id="134" name="Google Shape;134;p9"/>
          <p:cNvPicPr preferRelativeResize="0"/>
          <p:nvPr/>
        </p:nvPicPr>
        <p:blipFill rotWithShape="1">
          <a:blip r:embed="rId5">
            <a:alphaModFix/>
          </a:blip>
          <a:srcRect b="24746" l="0" r="736" t="10238"/>
          <a:stretch/>
        </p:blipFill>
        <p:spPr>
          <a:xfrm>
            <a:off x="605084" y="3988190"/>
            <a:ext cx="5390213" cy="1546801"/>
          </a:xfrm>
          <a:prstGeom prst="rect">
            <a:avLst/>
          </a:prstGeom>
          <a:noFill/>
          <a:ln>
            <a:noFill/>
          </a:ln>
        </p:spPr>
      </p:pic>
      <p:pic>
        <p:nvPicPr>
          <p:cNvPr id="135" name="Google Shape;135;p9"/>
          <p:cNvPicPr preferRelativeResize="0"/>
          <p:nvPr/>
        </p:nvPicPr>
        <p:blipFill rotWithShape="1">
          <a:blip r:embed="rId6">
            <a:alphaModFix/>
          </a:blip>
          <a:srcRect b="0" l="0" r="0" t="0"/>
          <a:stretch/>
        </p:blipFill>
        <p:spPr>
          <a:xfrm>
            <a:off x="625188" y="1844298"/>
            <a:ext cx="5437149" cy="1695251"/>
          </a:xfrm>
          <a:prstGeom prst="rect">
            <a:avLst/>
          </a:prstGeom>
          <a:noFill/>
          <a:ln>
            <a:noFill/>
          </a:ln>
        </p:spPr>
      </p:pic>
      <p:sp>
        <p:nvSpPr>
          <p:cNvPr id="136" name="Google Shape;136;p9"/>
          <p:cNvSpPr txBox="1"/>
          <p:nvPr/>
        </p:nvSpPr>
        <p:spPr>
          <a:xfrm>
            <a:off x="7060368" y="2938072"/>
            <a:ext cx="4526548"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Se realizó una cotización detallada de todos los insumos necesarios para cada rol, asegurando el correcto funcionamiento del software. Se incluyeron tanto los componentes de hardware como los programas de software requeridos para la ejecución del sistema.</a:t>
            </a:r>
            <a:endParaRPr/>
          </a:p>
        </p:txBody>
      </p:sp>
      <p:pic>
        <p:nvPicPr>
          <p:cNvPr id="137" name="Google Shape;137;p9"/>
          <p:cNvPicPr preferRelativeResize="0"/>
          <p:nvPr/>
        </p:nvPicPr>
        <p:blipFill rotWithShape="1">
          <a:blip r:embed="rId7">
            <a:alphaModFix/>
          </a:blip>
          <a:srcRect b="0" l="0" r="0" t="0"/>
          <a:stretch/>
        </p:blipFill>
        <p:spPr>
          <a:xfrm>
            <a:off x="10453343" y="5441525"/>
            <a:ext cx="1217282" cy="673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g28f2834e787_0_11"/>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Casos de uso</a:t>
            </a:r>
            <a:endParaRPr/>
          </a:p>
        </p:txBody>
      </p:sp>
      <p:sp>
        <p:nvSpPr>
          <p:cNvPr id="143" name="Google Shape;143;g28f2834e787_0_11"/>
          <p:cNvSpPr txBox="1"/>
          <p:nvPr/>
        </p:nvSpPr>
        <p:spPr>
          <a:xfrm>
            <a:off x="11510100" y="6242400"/>
            <a:ext cx="681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pic>
        <p:nvPicPr>
          <p:cNvPr id="144" name="Google Shape;144;g28f2834e787_0_11"/>
          <p:cNvPicPr preferRelativeResize="0"/>
          <p:nvPr/>
        </p:nvPicPr>
        <p:blipFill rotWithShape="1">
          <a:blip r:embed="rId3">
            <a:alphaModFix/>
          </a:blip>
          <a:srcRect b="0" l="0" r="0" t="0"/>
          <a:stretch/>
        </p:blipFill>
        <p:spPr>
          <a:xfrm>
            <a:off x="1062284" y="2147393"/>
            <a:ext cx="5343682" cy="3427423"/>
          </a:xfrm>
          <a:prstGeom prst="rect">
            <a:avLst/>
          </a:prstGeom>
          <a:noFill/>
          <a:ln>
            <a:noFill/>
          </a:ln>
        </p:spPr>
      </p:pic>
      <p:sp>
        <p:nvSpPr>
          <p:cNvPr id="145" name="Google Shape;145;g28f2834e787_0_11"/>
          <p:cNvSpPr txBox="1"/>
          <p:nvPr/>
        </p:nvSpPr>
        <p:spPr>
          <a:xfrm>
            <a:off x="2174175" y="6242400"/>
            <a:ext cx="2124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sng" cap="none" strike="noStrike">
                <a:solidFill>
                  <a:schemeClr val="hlink"/>
                </a:solidFill>
                <a:latin typeface="Calibri"/>
                <a:ea typeface="Calibri"/>
                <a:cs typeface="Calibri"/>
                <a:sym typeface="Calibri"/>
                <a:hlinkClick r:id="rId4"/>
              </a:rPr>
              <a:t>Casos de Uso</a:t>
            </a:r>
            <a:endParaRPr b="0" i="0" sz="2800" u="none" cap="none" strike="noStrike">
              <a:solidFill>
                <a:schemeClr val="dk1"/>
              </a:solidFill>
              <a:latin typeface="Calibri"/>
              <a:ea typeface="Calibri"/>
              <a:cs typeface="Calibri"/>
              <a:sym typeface="Calibri"/>
            </a:endParaRPr>
          </a:p>
        </p:txBody>
      </p:sp>
      <p:sp>
        <p:nvSpPr>
          <p:cNvPr id="146" name="Google Shape;146;g28f2834e787_0_11"/>
          <p:cNvSpPr txBox="1"/>
          <p:nvPr/>
        </p:nvSpPr>
        <p:spPr>
          <a:xfrm>
            <a:off x="7704945" y="2923082"/>
            <a:ext cx="3424772"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Los casos de uso se realizaron derivando de cada requerimiento funcional, en los diagramas de caso de uso se evidencia en que caso de uso interviene cada acto(rol).</a:t>
            </a:r>
            <a:endParaRPr/>
          </a:p>
        </p:txBody>
      </p:sp>
      <p:pic>
        <p:nvPicPr>
          <p:cNvPr id="147" name="Google Shape;147;g28f2834e787_0_11"/>
          <p:cNvPicPr preferRelativeResize="0"/>
          <p:nvPr/>
        </p:nvPicPr>
        <p:blipFill rotWithShape="1">
          <a:blip r:embed="rId5">
            <a:alphaModFix/>
          </a:blip>
          <a:srcRect b="0" l="0" r="0" t="0"/>
          <a:stretch/>
        </p:blipFill>
        <p:spPr>
          <a:xfrm>
            <a:off x="10453343" y="5441525"/>
            <a:ext cx="1217282" cy="67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5"/>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Casos de uso extendido</a:t>
            </a:r>
            <a:endParaRPr/>
          </a:p>
        </p:txBody>
      </p:sp>
      <p:sp>
        <p:nvSpPr>
          <p:cNvPr id="153" name="Google Shape;153;p5"/>
          <p:cNvSpPr txBox="1"/>
          <p:nvPr/>
        </p:nvSpPr>
        <p:spPr>
          <a:xfrm>
            <a:off x="11510100" y="6242400"/>
            <a:ext cx="681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10</a:t>
            </a:r>
            <a:endParaRPr b="0" i="0" sz="1400" u="none" cap="none" strike="noStrike">
              <a:solidFill>
                <a:srgbClr val="000000"/>
              </a:solidFill>
              <a:latin typeface="Arial"/>
              <a:ea typeface="Arial"/>
              <a:cs typeface="Arial"/>
              <a:sym typeface="Arial"/>
            </a:endParaRPr>
          </a:p>
        </p:txBody>
      </p:sp>
      <p:sp>
        <p:nvSpPr>
          <p:cNvPr id="154" name="Google Shape;154;p5"/>
          <p:cNvSpPr txBox="1"/>
          <p:nvPr/>
        </p:nvSpPr>
        <p:spPr>
          <a:xfrm>
            <a:off x="1117407" y="3936025"/>
            <a:ext cx="36150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lang="es-MX" sz="2600" u="sng">
                <a:solidFill>
                  <a:schemeClr val="hlink"/>
                </a:solidFill>
                <a:latin typeface="Calibri"/>
                <a:ea typeface="Calibri"/>
                <a:cs typeface="Calibri"/>
                <a:sym typeface="Calibri"/>
                <a:hlinkClick r:id="rId3"/>
              </a:rPr>
              <a:t>Caso de Uso Extendido</a:t>
            </a:r>
            <a:endParaRPr b="0" i="0" sz="2600" u="none" cap="none" strike="noStrike">
              <a:solidFill>
                <a:schemeClr val="dk1"/>
              </a:solidFill>
              <a:latin typeface="Calibri"/>
              <a:ea typeface="Calibri"/>
              <a:cs typeface="Calibri"/>
              <a:sym typeface="Calibri"/>
            </a:endParaRPr>
          </a:p>
        </p:txBody>
      </p:sp>
      <p:pic>
        <p:nvPicPr>
          <p:cNvPr id="155" name="Google Shape;155;p5"/>
          <p:cNvPicPr preferRelativeResize="0"/>
          <p:nvPr/>
        </p:nvPicPr>
        <p:blipFill rotWithShape="1">
          <a:blip r:embed="rId4">
            <a:alphaModFix/>
          </a:blip>
          <a:srcRect b="0" l="0" r="0" t="0"/>
          <a:stretch/>
        </p:blipFill>
        <p:spPr>
          <a:xfrm>
            <a:off x="6142704" y="1747476"/>
            <a:ext cx="3957075" cy="4779774"/>
          </a:xfrm>
          <a:prstGeom prst="rect">
            <a:avLst/>
          </a:prstGeom>
          <a:noFill/>
          <a:ln>
            <a:noFill/>
          </a:ln>
        </p:spPr>
      </p:pic>
      <p:sp>
        <p:nvSpPr>
          <p:cNvPr id="156" name="Google Shape;156;p5"/>
          <p:cNvSpPr txBox="1"/>
          <p:nvPr/>
        </p:nvSpPr>
        <p:spPr>
          <a:xfrm>
            <a:off x="1117390" y="2181704"/>
            <a:ext cx="3955057"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Los casos de uso extendido se hacen como extensión y complemento de los requisitos funcionales del software, brindando información más detallada de cada caso de uso.</a:t>
            </a:r>
            <a:endParaRPr/>
          </a:p>
        </p:txBody>
      </p:sp>
      <p:pic>
        <p:nvPicPr>
          <p:cNvPr id="157" name="Google Shape;157;p5"/>
          <p:cNvPicPr preferRelativeResize="0"/>
          <p:nvPr/>
        </p:nvPicPr>
        <p:blipFill rotWithShape="1">
          <a:blip r:embed="rId5">
            <a:alphaModFix/>
          </a:blip>
          <a:srcRect b="0" l="0" r="0" t="0"/>
          <a:stretch/>
        </p:blipFill>
        <p:spPr>
          <a:xfrm>
            <a:off x="10453343" y="5441525"/>
            <a:ext cx="1217282" cy="67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Modelo relacional</a:t>
            </a:r>
            <a:endParaRPr/>
          </a:p>
        </p:txBody>
      </p:sp>
      <p:sp>
        <p:nvSpPr>
          <p:cNvPr id="163" name="Google Shape;163;p10"/>
          <p:cNvSpPr txBox="1"/>
          <p:nvPr/>
        </p:nvSpPr>
        <p:spPr>
          <a:xfrm>
            <a:off x="11610600" y="6242400"/>
            <a:ext cx="5814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11</a:t>
            </a:r>
            <a:endParaRPr b="0" i="0" sz="1400" u="none" cap="none" strike="noStrike">
              <a:solidFill>
                <a:srgbClr val="000000"/>
              </a:solidFill>
              <a:latin typeface="Arial"/>
              <a:ea typeface="Arial"/>
              <a:cs typeface="Arial"/>
              <a:sym typeface="Arial"/>
            </a:endParaRPr>
          </a:p>
        </p:txBody>
      </p:sp>
      <p:pic>
        <p:nvPicPr>
          <p:cNvPr id="164" name="Google Shape;164;p10"/>
          <p:cNvPicPr preferRelativeResize="0"/>
          <p:nvPr/>
        </p:nvPicPr>
        <p:blipFill rotWithShape="1">
          <a:blip r:embed="rId3">
            <a:alphaModFix/>
          </a:blip>
          <a:srcRect b="0" l="0" r="13390" t="0"/>
          <a:stretch/>
        </p:blipFill>
        <p:spPr>
          <a:xfrm>
            <a:off x="1193819" y="1594818"/>
            <a:ext cx="4902181" cy="4887925"/>
          </a:xfrm>
          <a:prstGeom prst="rect">
            <a:avLst/>
          </a:prstGeom>
          <a:noFill/>
          <a:ln>
            <a:noFill/>
          </a:ln>
        </p:spPr>
      </p:pic>
      <p:sp>
        <p:nvSpPr>
          <p:cNvPr id="165" name="Google Shape;165;p10"/>
          <p:cNvSpPr txBox="1"/>
          <p:nvPr/>
        </p:nvSpPr>
        <p:spPr>
          <a:xfrm>
            <a:off x="7714934" y="4608471"/>
            <a:ext cx="2953459"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sng" cap="none" strike="noStrike">
                <a:solidFill>
                  <a:schemeClr val="hlink"/>
                </a:solidFill>
                <a:latin typeface="Calibri"/>
                <a:ea typeface="Calibri"/>
                <a:cs typeface="Calibri"/>
                <a:sym typeface="Calibri"/>
                <a:hlinkClick r:id="rId4"/>
              </a:rPr>
              <a:t>Modelo Relacional</a:t>
            </a:r>
            <a:endParaRPr b="0" i="0" sz="2800" u="none" cap="none" strike="noStrike">
              <a:solidFill>
                <a:schemeClr val="dk1"/>
              </a:solidFill>
              <a:latin typeface="Calibri"/>
              <a:ea typeface="Calibri"/>
              <a:cs typeface="Calibri"/>
              <a:sym typeface="Calibri"/>
            </a:endParaRPr>
          </a:p>
        </p:txBody>
      </p:sp>
      <p:sp>
        <p:nvSpPr>
          <p:cNvPr id="166" name="Google Shape;166;p10"/>
          <p:cNvSpPr txBox="1"/>
          <p:nvPr/>
        </p:nvSpPr>
        <p:spPr>
          <a:xfrm>
            <a:off x="6880480" y="2958446"/>
            <a:ext cx="4622369" cy="147732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El modelo relacional es la representación de las tablas y sus relaciones, también podemos ver las diferentes tablas relacionales que se crean a partir de ciertas relaciones entre una tabla y otra</a:t>
            </a:r>
            <a:endParaRPr/>
          </a:p>
        </p:txBody>
      </p:sp>
      <p:pic>
        <p:nvPicPr>
          <p:cNvPr id="167" name="Google Shape;167;p10"/>
          <p:cNvPicPr preferRelativeResize="0"/>
          <p:nvPr/>
        </p:nvPicPr>
        <p:blipFill rotWithShape="1">
          <a:blip r:embed="rId5">
            <a:alphaModFix/>
          </a:blip>
          <a:srcRect b="0" l="0" r="0" t="0"/>
          <a:stretch/>
        </p:blipFill>
        <p:spPr>
          <a:xfrm>
            <a:off x="10453343" y="5441525"/>
            <a:ext cx="1217282" cy="67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2"/>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45720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Diccionario de datos </a:t>
            </a:r>
            <a:endParaRPr/>
          </a:p>
        </p:txBody>
      </p:sp>
      <p:sp>
        <p:nvSpPr>
          <p:cNvPr id="173" name="Google Shape;173;p12"/>
          <p:cNvSpPr txBox="1"/>
          <p:nvPr/>
        </p:nvSpPr>
        <p:spPr>
          <a:xfrm>
            <a:off x="11640300" y="6282725"/>
            <a:ext cx="551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12</a:t>
            </a:r>
            <a:endParaRPr b="0" i="0" sz="1400" u="none" cap="none" strike="noStrike">
              <a:solidFill>
                <a:srgbClr val="000000"/>
              </a:solidFill>
              <a:latin typeface="Arial"/>
              <a:ea typeface="Arial"/>
              <a:cs typeface="Arial"/>
              <a:sym typeface="Arial"/>
            </a:endParaRPr>
          </a:p>
        </p:txBody>
      </p:sp>
      <p:pic>
        <p:nvPicPr>
          <p:cNvPr id="174" name="Google Shape;174;p12"/>
          <p:cNvPicPr preferRelativeResize="0"/>
          <p:nvPr/>
        </p:nvPicPr>
        <p:blipFill rotWithShape="1">
          <a:blip r:embed="rId3">
            <a:alphaModFix/>
          </a:blip>
          <a:srcRect b="0" l="0" r="0" t="0"/>
          <a:stretch/>
        </p:blipFill>
        <p:spPr>
          <a:xfrm>
            <a:off x="4137277" y="1757159"/>
            <a:ext cx="6829425" cy="4038600"/>
          </a:xfrm>
          <a:prstGeom prst="rect">
            <a:avLst/>
          </a:prstGeom>
          <a:noFill/>
          <a:ln>
            <a:noFill/>
          </a:ln>
        </p:spPr>
      </p:pic>
      <p:sp>
        <p:nvSpPr>
          <p:cNvPr id="175" name="Google Shape;175;p12"/>
          <p:cNvSpPr txBox="1"/>
          <p:nvPr/>
        </p:nvSpPr>
        <p:spPr>
          <a:xfrm>
            <a:off x="4517902" y="5795754"/>
            <a:ext cx="33339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sng" cap="none" strike="noStrike">
                <a:solidFill>
                  <a:schemeClr val="hlink"/>
                </a:solidFill>
                <a:latin typeface="Calibri"/>
                <a:ea typeface="Calibri"/>
                <a:cs typeface="Calibri"/>
                <a:sym typeface="Calibri"/>
                <a:hlinkClick r:id="rId4"/>
              </a:rPr>
              <a:t>Diccionario de Datos</a:t>
            </a:r>
            <a:endParaRPr b="0" i="0" sz="2800" u="none" cap="none" strike="noStrike">
              <a:solidFill>
                <a:schemeClr val="dk1"/>
              </a:solidFill>
              <a:latin typeface="Calibri"/>
              <a:ea typeface="Calibri"/>
              <a:cs typeface="Calibri"/>
              <a:sym typeface="Calibri"/>
            </a:endParaRPr>
          </a:p>
        </p:txBody>
      </p:sp>
      <p:sp>
        <p:nvSpPr>
          <p:cNvPr id="176" name="Google Shape;176;p12"/>
          <p:cNvSpPr txBox="1"/>
          <p:nvPr/>
        </p:nvSpPr>
        <p:spPr>
          <a:xfrm>
            <a:off x="854441" y="2274838"/>
            <a:ext cx="3282846"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El diccionario de datos es un recurso que describe elementos de datos de una base de datos, aquí se verán todos los elementos de la base de datos realizada basándose en el modelo relacional.</a:t>
            </a:r>
            <a:endParaRPr b="0" i="0" sz="1800" u="none" cap="none" strike="noStrike">
              <a:solidFill>
                <a:srgbClr val="000000"/>
              </a:solidFill>
              <a:latin typeface="Arial"/>
              <a:ea typeface="Arial"/>
              <a:cs typeface="Arial"/>
              <a:sym typeface="Arial"/>
            </a:endParaRPr>
          </a:p>
        </p:txBody>
      </p:sp>
      <p:pic>
        <p:nvPicPr>
          <p:cNvPr id="177" name="Google Shape;177;p12"/>
          <p:cNvPicPr preferRelativeResize="0"/>
          <p:nvPr/>
        </p:nvPicPr>
        <p:blipFill rotWithShape="1">
          <a:blip r:embed="rId5">
            <a:alphaModFix/>
          </a:blip>
          <a:srcRect b="0" l="0" r="0" t="0"/>
          <a:stretch/>
        </p:blipFill>
        <p:spPr>
          <a:xfrm>
            <a:off x="10453343" y="5441525"/>
            <a:ext cx="1217282" cy="6732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6"/>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Normalización</a:t>
            </a:r>
            <a:endParaRPr/>
          </a:p>
        </p:txBody>
      </p:sp>
      <p:sp>
        <p:nvSpPr>
          <p:cNvPr id="183" name="Google Shape;183;p6"/>
          <p:cNvSpPr txBox="1"/>
          <p:nvPr/>
        </p:nvSpPr>
        <p:spPr>
          <a:xfrm>
            <a:off x="11577300" y="6242400"/>
            <a:ext cx="614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13</a:t>
            </a:r>
            <a:endParaRPr b="0" i="0" sz="1400" u="none" cap="none" strike="noStrike">
              <a:solidFill>
                <a:srgbClr val="000000"/>
              </a:solidFill>
              <a:latin typeface="Arial"/>
              <a:ea typeface="Arial"/>
              <a:cs typeface="Arial"/>
              <a:sym typeface="Arial"/>
            </a:endParaRPr>
          </a:p>
        </p:txBody>
      </p:sp>
      <p:pic>
        <p:nvPicPr>
          <p:cNvPr id="184" name="Google Shape;184;p6"/>
          <p:cNvPicPr preferRelativeResize="0"/>
          <p:nvPr/>
        </p:nvPicPr>
        <p:blipFill rotWithShape="1">
          <a:blip r:embed="rId3">
            <a:alphaModFix/>
          </a:blip>
          <a:srcRect b="0" l="0" r="0" t="0"/>
          <a:stretch/>
        </p:blipFill>
        <p:spPr>
          <a:xfrm>
            <a:off x="683068" y="1796935"/>
            <a:ext cx="7925906" cy="3972479"/>
          </a:xfrm>
          <a:prstGeom prst="rect">
            <a:avLst/>
          </a:prstGeom>
          <a:noFill/>
          <a:ln>
            <a:noFill/>
          </a:ln>
        </p:spPr>
      </p:pic>
      <p:sp>
        <p:nvSpPr>
          <p:cNvPr id="185" name="Google Shape;185;p6"/>
          <p:cNvSpPr txBox="1"/>
          <p:nvPr/>
        </p:nvSpPr>
        <p:spPr>
          <a:xfrm>
            <a:off x="9094033" y="1796935"/>
            <a:ext cx="2152072"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Reglas para la normalización de una base de datos:</a:t>
            </a:r>
            <a:endParaRPr/>
          </a:p>
        </p:txBody>
      </p:sp>
      <p:sp>
        <p:nvSpPr>
          <p:cNvPr id="186" name="Google Shape;186;p6"/>
          <p:cNvSpPr txBox="1"/>
          <p:nvPr/>
        </p:nvSpPr>
        <p:spPr>
          <a:xfrm>
            <a:off x="9094033" y="3038556"/>
            <a:ext cx="22974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2600" u="sng" cap="none" strike="noStrike">
                <a:solidFill>
                  <a:schemeClr val="hlink"/>
                </a:solidFill>
                <a:latin typeface="Arial"/>
                <a:ea typeface="Arial"/>
                <a:cs typeface="Arial"/>
                <a:sym typeface="Arial"/>
                <a:hlinkClick r:id="rId4"/>
              </a:rPr>
              <a:t>Normalización</a:t>
            </a:r>
            <a:endParaRPr b="0" i="0" sz="2600" u="none" cap="none" strike="noStrike">
              <a:solidFill>
                <a:srgbClr val="000000"/>
              </a:solidFill>
              <a:latin typeface="Arial"/>
              <a:ea typeface="Arial"/>
              <a:cs typeface="Arial"/>
              <a:sym typeface="Arial"/>
            </a:endParaRPr>
          </a:p>
        </p:txBody>
      </p:sp>
      <p:pic>
        <p:nvPicPr>
          <p:cNvPr id="187" name="Google Shape;187;p6"/>
          <p:cNvPicPr preferRelativeResize="0"/>
          <p:nvPr/>
        </p:nvPicPr>
        <p:blipFill rotWithShape="1">
          <a:blip r:embed="rId5">
            <a:alphaModFix/>
          </a:blip>
          <a:srcRect b="0" l="0" r="0" t="0"/>
          <a:stretch/>
        </p:blipFill>
        <p:spPr>
          <a:xfrm>
            <a:off x="10453343" y="5441525"/>
            <a:ext cx="1217282" cy="673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3"/>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Diagrama de clases </a:t>
            </a:r>
            <a:endParaRPr/>
          </a:p>
        </p:txBody>
      </p:sp>
      <p:sp>
        <p:nvSpPr>
          <p:cNvPr id="193" name="Google Shape;193;p13"/>
          <p:cNvSpPr txBox="1"/>
          <p:nvPr/>
        </p:nvSpPr>
        <p:spPr>
          <a:xfrm>
            <a:off x="11577300" y="6242400"/>
            <a:ext cx="614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13</a:t>
            </a:r>
            <a:endParaRPr b="0" i="0" sz="1400" u="none" cap="none" strike="noStrike">
              <a:solidFill>
                <a:srgbClr val="000000"/>
              </a:solidFill>
              <a:latin typeface="Arial"/>
              <a:ea typeface="Arial"/>
              <a:cs typeface="Arial"/>
              <a:sym typeface="Arial"/>
            </a:endParaRPr>
          </a:p>
        </p:txBody>
      </p:sp>
      <p:pic>
        <p:nvPicPr>
          <p:cNvPr id="194" name="Google Shape;194;p13"/>
          <p:cNvPicPr preferRelativeResize="0"/>
          <p:nvPr/>
        </p:nvPicPr>
        <p:blipFill rotWithShape="1">
          <a:blip r:embed="rId3">
            <a:alphaModFix/>
          </a:blip>
          <a:srcRect b="0" l="8281" r="0" t="0"/>
          <a:stretch/>
        </p:blipFill>
        <p:spPr>
          <a:xfrm>
            <a:off x="362249" y="1646423"/>
            <a:ext cx="9073177" cy="4457649"/>
          </a:xfrm>
          <a:prstGeom prst="rect">
            <a:avLst/>
          </a:prstGeom>
          <a:noFill/>
          <a:ln>
            <a:noFill/>
          </a:ln>
        </p:spPr>
      </p:pic>
      <p:sp>
        <p:nvSpPr>
          <p:cNvPr id="195" name="Google Shape;195;p13"/>
          <p:cNvSpPr txBox="1"/>
          <p:nvPr/>
        </p:nvSpPr>
        <p:spPr>
          <a:xfrm>
            <a:off x="8518494" y="3012115"/>
            <a:ext cx="27954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MX" sz="2600" u="sng" cap="none" strike="noStrike">
                <a:solidFill>
                  <a:schemeClr val="hlink"/>
                </a:solidFill>
                <a:latin typeface="Calibri"/>
                <a:ea typeface="Calibri"/>
                <a:cs typeface="Calibri"/>
                <a:sym typeface="Calibri"/>
                <a:hlinkClick r:id="rId4"/>
              </a:rPr>
              <a:t>Diagrama de Clases</a:t>
            </a:r>
            <a:endParaRPr b="0" i="0" sz="2600" u="none" cap="none" strike="noStrike">
              <a:solidFill>
                <a:schemeClr val="dk1"/>
              </a:solidFill>
              <a:latin typeface="Calibri"/>
              <a:ea typeface="Calibri"/>
              <a:cs typeface="Calibri"/>
              <a:sym typeface="Calibri"/>
            </a:endParaRPr>
          </a:p>
        </p:txBody>
      </p:sp>
      <p:sp>
        <p:nvSpPr>
          <p:cNvPr id="196" name="Google Shape;196;p13"/>
          <p:cNvSpPr txBox="1"/>
          <p:nvPr/>
        </p:nvSpPr>
        <p:spPr>
          <a:xfrm>
            <a:off x="8518500" y="1646427"/>
            <a:ext cx="30588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Muestra las clases del sistema, sus atributos, métodos y las relaciones entre ellas</a:t>
            </a:r>
            <a:endParaRPr b="0" i="0" sz="1800" u="none" cap="none" strike="noStrike">
              <a:solidFill>
                <a:srgbClr val="000000"/>
              </a:solidFill>
              <a:latin typeface="Arial"/>
              <a:ea typeface="Arial"/>
              <a:cs typeface="Arial"/>
              <a:sym typeface="Arial"/>
            </a:endParaRPr>
          </a:p>
        </p:txBody>
      </p:sp>
      <p:pic>
        <p:nvPicPr>
          <p:cNvPr id="197" name="Google Shape;197;p13"/>
          <p:cNvPicPr preferRelativeResize="0"/>
          <p:nvPr/>
        </p:nvPicPr>
        <p:blipFill rotWithShape="1">
          <a:blip r:embed="rId5">
            <a:alphaModFix/>
          </a:blip>
          <a:srcRect b="0" l="0" r="0" t="0"/>
          <a:stretch/>
        </p:blipFill>
        <p:spPr>
          <a:xfrm>
            <a:off x="10453343" y="5441525"/>
            <a:ext cx="1217282" cy="673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21214d06cbf_0_1"/>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Diagrama de despliegue </a:t>
            </a:r>
            <a:endParaRPr/>
          </a:p>
        </p:txBody>
      </p:sp>
      <p:sp>
        <p:nvSpPr>
          <p:cNvPr id="203" name="Google Shape;203;g21214d06cbf_0_1"/>
          <p:cNvSpPr txBox="1"/>
          <p:nvPr/>
        </p:nvSpPr>
        <p:spPr>
          <a:xfrm>
            <a:off x="11577300" y="6242400"/>
            <a:ext cx="614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13</a:t>
            </a:r>
            <a:endParaRPr b="0" i="0" sz="1400" u="none" cap="none" strike="noStrike">
              <a:solidFill>
                <a:srgbClr val="000000"/>
              </a:solidFill>
              <a:latin typeface="Arial"/>
              <a:ea typeface="Arial"/>
              <a:cs typeface="Arial"/>
              <a:sym typeface="Arial"/>
            </a:endParaRPr>
          </a:p>
        </p:txBody>
      </p:sp>
      <p:pic>
        <p:nvPicPr>
          <p:cNvPr id="204" name="Google Shape;204;g21214d06cbf_0_1"/>
          <p:cNvPicPr preferRelativeResize="0"/>
          <p:nvPr/>
        </p:nvPicPr>
        <p:blipFill rotWithShape="1">
          <a:blip r:embed="rId3">
            <a:alphaModFix/>
          </a:blip>
          <a:srcRect b="0" l="0" r="0" t="0"/>
          <a:stretch/>
        </p:blipFill>
        <p:spPr>
          <a:xfrm>
            <a:off x="3356267" y="1682549"/>
            <a:ext cx="7947348" cy="4229101"/>
          </a:xfrm>
          <a:prstGeom prst="rect">
            <a:avLst/>
          </a:prstGeom>
          <a:noFill/>
          <a:ln>
            <a:noFill/>
          </a:ln>
        </p:spPr>
      </p:pic>
      <p:sp>
        <p:nvSpPr>
          <p:cNvPr id="205" name="Google Shape;205;g21214d06cbf_0_1"/>
          <p:cNvSpPr txBox="1"/>
          <p:nvPr/>
        </p:nvSpPr>
        <p:spPr>
          <a:xfrm>
            <a:off x="3356267" y="5911650"/>
            <a:ext cx="3828900" cy="58474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0" lang="es-MX" sz="2600" u="sng" cap="none" strike="noStrike">
                <a:solidFill>
                  <a:schemeClr val="hlink"/>
                </a:solidFill>
                <a:latin typeface="Calibri"/>
                <a:ea typeface="Calibri"/>
                <a:cs typeface="Calibri"/>
                <a:sym typeface="Calibri"/>
                <a:hlinkClick r:id="rId4"/>
              </a:rPr>
              <a:t>Diagrama de Despliegue</a:t>
            </a:r>
            <a:endParaRPr b="0" i="0" sz="2600" u="none" cap="none" strike="noStrike">
              <a:solidFill>
                <a:schemeClr val="dk1"/>
              </a:solidFill>
              <a:latin typeface="Calibri"/>
              <a:ea typeface="Calibri"/>
              <a:cs typeface="Calibri"/>
              <a:sym typeface="Calibri"/>
            </a:endParaRPr>
          </a:p>
        </p:txBody>
      </p:sp>
      <p:sp>
        <p:nvSpPr>
          <p:cNvPr id="206" name="Google Shape;206;g21214d06cbf_0_1"/>
          <p:cNvSpPr txBox="1"/>
          <p:nvPr/>
        </p:nvSpPr>
        <p:spPr>
          <a:xfrm>
            <a:off x="635431" y="1682549"/>
            <a:ext cx="2433233" cy="369331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Este diagrama de despliegue muestra cómo los componentes se comunican y dónde se ejecutan los diferentes elementos del sistema. Empleando los nodos y las conexiones para que cada componente llegue al siguiente.</a:t>
            </a:r>
            <a:endParaRPr b="0" i="0" sz="1800" u="none" cap="none" strike="noStrike">
              <a:solidFill>
                <a:srgbClr val="000000"/>
              </a:solidFill>
              <a:latin typeface="Arial"/>
              <a:ea typeface="Arial"/>
              <a:cs typeface="Arial"/>
              <a:sym typeface="Arial"/>
            </a:endParaRPr>
          </a:p>
        </p:txBody>
      </p:sp>
      <p:pic>
        <p:nvPicPr>
          <p:cNvPr id="207" name="Google Shape;207;g21214d06cbf_0_1"/>
          <p:cNvPicPr preferRelativeResize="0"/>
          <p:nvPr/>
        </p:nvPicPr>
        <p:blipFill rotWithShape="1">
          <a:blip r:embed="rId5">
            <a:alphaModFix/>
          </a:blip>
          <a:srcRect b="0" l="0" r="0" t="0"/>
          <a:stretch/>
        </p:blipFill>
        <p:spPr>
          <a:xfrm>
            <a:off x="10086343" y="5997150"/>
            <a:ext cx="1217282" cy="67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g21214d06cbf_0_9"/>
          <p:cNvSpPr txBox="1"/>
          <p:nvPr>
            <p:ph type="title"/>
          </p:nvPr>
        </p:nvSpPr>
        <p:spPr>
          <a:xfrm>
            <a:off x="456217" y="330750"/>
            <a:ext cx="10260000" cy="836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Work Sans Medium"/>
              <a:buNone/>
            </a:pPr>
            <a:r>
              <a:rPr lang="es-MX" sz="4000">
                <a:solidFill>
                  <a:schemeClr val="lt1"/>
                </a:solidFill>
                <a:latin typeface="Work Sans Medium"/>
                <a:ea typeface="Work Sans Medium"/>
                <a:cs typeface="Work Sans Medium"/>
                <a:sym typeface="Work Sans Medium"/>
              </a:rPr>
              <a:t>Control de versiones </a:t>
            </a:r>
            <a:endParaRPr/>
          </a:p>
        </p:txBody>
      </p:sp>
      <p:sp>
        <p:nvSpPr>
          <p:cNvPr id="213" name="Google Shape;213;g21214d06cbf_0_9"/>
          <p:cNvSpPr txBox="1"/>
          <p:nvPr/>
        </p:nvSpPr>
        <p:spPr>
          <a:xfrm>
            <a:off x="11577300" y="6242400"/>
            <a:ext cx="614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s-MX" sz="2800" u="none" cap="none" strike="noStrike">
                <a:solidFill>
                  <a:schemeClr val="accent6"/>
                </a:solidFill>
                <a:latin typeface="Calibri"/>
                <a:ea typeface="Calibri"/>
                <a:cs typeface="Calibri"/>
                <a:sym typeface="Calibri"/>
              </a:rPr>
              <a:t>13</a:t>
            </a:r>
            <a:endParaRPr b="0" i="0" sz="1400" u="none" cap="none" strike="noStrike">
              <a:solidFill>
                <a:srgbClr val="000000"/>
              </a:solidFill>
              <a:latin typeface="Arial"/>
              <a:ea typeface="Arial"/>
              <a:cs typeface="Arial"/>
              <a:sym typeface="Arial"/>
            </a:endParaRPr>
          </a:p>
        </p:txBody>
      </p:sp>
      <p:pic>
        <p:nvPicPr>
          <p:cNvPr id="214" name="Google Shape;214;g21214d06cbf_0_9"/>
          <p:cNvPicPr preferRelativeResize="0"/>
          <p:nvPr/>
        </p:nvPicPr>
        <p:blipFill rotWithShape="1">
          <a:blip r:embed="rId3">
            <a:alphaModFix/>
          </a:blip>
          <a:srcRect b="0" l="0" r="0" t="0"/>
          <a:stretch/>
        </p:blipFill>
        <p:spPr>
          <a:xfrm>
            <a:off x="779489" y="1851787"/>
            <a:ext cx="7075357" cy="3154425"/>
          </a:xfrm>
          <a:prstGeom prst="rect">
            <a:avLst/>
          </a:prstGeom>
          <a:noFill/>
          <a:ln>
            <a:noFill/>
          </a:ln>
        </p:spPr>
      </p:pic>
      <p:sp>
        <p:nvSpPr>
          <p:cNvPr id="215" name="Google Shape;215;g21214d06cbf_0_9"/>
          <p:cNvSpPr txBox="1"/>
          <p:nvPr/>
        </p:nvSpPr>
        <p:spPr>
          <a:xfrm>
            <a:off x="819204" y="5177328"/>
            <a:ext cx="12645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lang="es-MX" sz="2600" u="sng">
                <a:solidFill>
                  <a:schemeClr val="hlink"/>
                </a:solidFill>
                <a:latin typeface="Calibri"/>
                <a:ea typeface="Calibri"/>
                <a:cs typeface="Calibri"/>
                <a:sym typeface="Calibri"/>
                <a:hlinkClick r:id="rId4"/>
              </a:rPr>
              <a:t>GitHub</a:t>
            </a:r>
            <a:endParaRPr b="0" i="0" sz="2800" u="none" cap="none" strike="noStrike">
              <a:solidFill>
                <a:schemeClr val="dk1"/>
              </a:solidFill>
              <a:latin typeface="Calibri"/>
              <a:ea typeface="Calibri"/>
              <a:cs typeface="Calibri"/>
              <a:sym typeface="Calibri"/>
            </a:endParaRPr>
          </a:p>
        </p:txBody>
      </p:sp>
      <p:sp>
        <p:nvSpPr>
          <p:cNvPr id="216" name="Google Shape;216;g21214d06cbf_0_9"/>
          <p:cNvSpPr txBox="1"/>
          <p:nvPr/>
        </p:nvSpPr>
        <p:spPr>
          <a:xfrm>
            <a:off x="8338088" y="2533710"/>
            <a:ext cx="2665709" cy="175432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s-MX" sz="1800" u="none" cap="none" strike="noStrike">
                <a:solidFill>
                  <a:srgbClr val="000000"/>
                </a:solidFill>
                <a:latin typeface="Arial"/>
                <a:ea typeface="Arial"/>
                <a:cs typeface="Arial"/>
                <a:sym typeface="Arial"/>
              </a:rPr>
              <a:t>El control de versiones del proyecto fue realizado en GitHub, empleando la página de GitHub y su aplicación de escritorio.</a:t>
            </a:r>
            <a:endParaRPr/>
          </a:p>
        </p:txBody>
      </p:sp>
      <p:pic>
        <p:nvPicPr>
          <p:cNvPr id="217" name="Google Shape;217;g21214d06cbf_0_9"/>
          <p:cNvPicPr preferRelativeResize="0"/>
          <p:nvPr/>
        </p:nvPicPr>
        <p:blipFill rotWithShape="1">
          <a:blip r:embed="rId5">
            <a:alphaModFix/>
          </a:blip>
          <a:srcRect b="0" l="0" r="0" t="0"/>
          <a:stretch/>
        </p:blipFill>
        <p:spPr>
          <a:xfrm>
            <a:off x="9905999" y="5138825"/>
            <a:ext cx="1764625" cy="9759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descr="Imagen que contiene Interfaz de usuario gráfica&#10;&#10;Descripción generada automáticamente" id="222" name="Google Shape;222;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2024-03-15T00:49:27Z</dcterms:created>
  <dc:creator>Carlos Andrés Herrera Mora</dc:creator>
</cp:coreProperties>
</file>