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468" r:id="rId2"/>
    <p:sldId id="503" r:id="rId3"/>
    <p:sldId id="502" r:id="rId4"/>
    <p:sldId id="508" r:id="rId5"/>
    <p:sldId id="509" r:id="rId6"/>
    <p:sldId id="511" r:id="rId7"/>
    <p:sldId id="505" r:id="rId8"/>
    <p:sldId id="264"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6369"/>
  </p:normalViewPr>
  <p:slideViewPr>
    <p:cSldViewPr snapToGrid="0">
      <p:cViewPr varScale="1">
        <p:scale>
          <a:sx n="95" d="100"/>
          <a:sy n="95" d="100"/>
        </p:scale>
        <p:origin x="1062"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12/06/2025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12/06/2025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633368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458274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5968F-984F-8BF4-4FF0-2432A9923EB8}"/>
              </a:ext>
            </a:extLst>
          </p:cNvPr>
          <p:cNvPicPr>
            <a:picLocks noChangeAspect="1"/>
          </p:cNvPicPr>
          <p:nvPr userDrawn="1"/>
        </p:nvPicPr>
        <p:blipFill>
          <a:blip r:embed="rId2"/>
          <a:stretch>
            <a:fillRect/>
          </a:stretch>
        </p:blipFill>
        <p:spPr>
          <a:xfrm>
            <a:off x="11027833" y="317431"/>
            <a:ext cx="811391" cy="790587"/>
          </a:xfrm>
          <a:prstGeom prst="rect">
            <a:avLst/>
          </a:prstGeom>
        </p:spPr>
      </p:pic>
    </p:spTree>
    <p:extLst>
      <p:ext uri="{BB962C8B-B14F-4D97-AF65-F5344CB8AC3E}">
        <p14:creationId xmlns:p14="http://schemas.microsoft.com/office/powerpoint/2010/main" val="324682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10;&#10;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12/06/2025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12/06/2025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59" r:id="rId12"/>
    <p:sldLayoutId id="2147483663" r:id="rId13"/>
    <p:sldLayoutId id="2147483675"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little-Johny/HealthConnection.git"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06;g2d31c5cac17_1_75">
            <a:extLst>
              <a:ext uri="{FF2B5EF4-FFF2-40B4-BE49-F238E27FC236}">
                <a16:creationId xmlns:a16="http://schemas.microsoft.com/office/drawing/2014/main" id="{8309FCC0-D153-1736-A59D-FC4D84FC13A7}"/>
              </a:ext>
            </a:extLst>
          </p:cNvPr>
          <p:cNvPicPr preferRelativeResize="0"/>
          <p:nvPr/>
        </p:nvPicPr>
        <p:blipFill>
          <a:blip r:embed="rId3">
            <a:alphaModFix/>
          </a:blip>
          <a:stretch>
            <a:fillRect/>
          </a:stretch>
        </p:blipFill>
        <p:spPr>
          <a:xfrm>
            <a:off x="3878255" y="1815350"/>
            <a:ext cx="4813491" cy="2565958"/>
          </a:xfrm>
          <a:prstGeom prst="rect">
            <a:avLst/>
          </a:prstGeom>
          <a:noFill/>
          <a:ln>
            <a:noFill/>
          </a:ln>
        </p:spPr>
      </p:pic>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B78A6207-2D79-A9F8-E09D-30C60C0067DF}"/>
              </a:ext>
            </a:extLst>
          </p:cNvPr>
          <p:cNvSpPr txBox="1"/>
          <p:nvPr/>
        </p:nvSpPr>
        <p:spPr>
          <a:xfrm>
            <a:off x="3050937" y="675443"/>
            <a:ext cx="6090129" cy="3416320"/>
          </a:xfrm>
          <a:prstGeom prst="rect">
            <a:avLst/>
          </a:prstGeom>
          <a:noFill/>
        </p:spPr>
        <p:txBody>
          <a:bodyPr wrap="none" rtlCol="0">
            <a:spAutoFit/>
          </a:bodyPr>
          <a:lstStyle/>
          <a:p>
            <a:pPr algn="ctr"/>
            <a:r>
              <a:rPr lang="es-CO" sz="7200" dirty="0">
                <a:solidFill>
                  <a:schemeClr val="bg1"/>
                </a:solidFill>
                <a:effectLst>
                  <a:outerShdw blurRad="38100" dist="38100" dir="2700000" algn="tl">
                    <a:srgbClr val="000000">
                      <a:alpha val="43137"/>
                    </a:srgbClr>
                  </a:outerShdw>
                </a:effectLst>
                <a:latin typeface="Work Sans Light" pitchFamily="2" charset="77"/>
              </a:rPr>
              <a:t>HEALTH</a:t>
            </a:r>
          </a:p>
          <a:p>
            <a:pPr algn="ctr"/>
            <a:r>
              <a:rPr lang="es-CO" sz="7200" dirty="0">
                <a:solidFill>
                  <a:schemeClr val="bg1"/>
                </a:solidFill>
                <a:effectLst>
                  <a:outerShdw blurRad="38100" dist="38100" dir="2700000" algn="tl">
                    <a:srgbClr val="000000">
                      <a:alpha val="43137"/>
                    </a:srgbClr>
                  </a:outerShdw>
                </a:effectLst>
                <a:latin typeface="Work Sans Light" pitchFamily="2" charset="77"/>
              </a:rPr>
              <a:t>CONNECTION</a:t>
            </a:r>
          </a:p>
          <a:p>
            <a:pPr algn="ctr"/>
            <a:endParaRPr lang="es-CO" sz="7200" dirty="0">
              <a:solidFill>
                <a:schemeClr val="bg1"/>
              </a:solidFill>
              <a:effectLst>
                <a:outerShdw blurRad="38100" dist="38100" dir="2700000" algn="tl">
                  <a:srgbClr val="000000">
                    <a:alpha val="43137"/>
                  </a:srgbClr>
                </a:outerShdw>
              </a:effectLst>
              <a:latin typeface="Work Sans Light" pitchFamily="2" charset="77"/>
            </a:endParaRPr>
          </a:p>
        </p:txBody>
      </p:sp>
      <p:cxnSp>
        <p:nvCxnSpPr>
          <p:cNvPr id="7" name="Conector recto 6">
            <a:extLst>
              <a:ext uri="{FF2B5EF4-FFF2-40B4-BE49-F238E27FC236}">
                <a16:creationId xmlns:a16="http://schemas.microsoft.com/office/drawing/2014/main" id="{7093B0CC-07FB-12E7-E7C8-581324B7AF33}"/>
              </a:ext>
            </a:extLst>
          </p:cNvPr>
          <p:cNvCxnSpPr>
            <a:cxnSpLocks/>
          </p:cNvCxnSpPr>
          <p:nvPr/>
        </p:nvCxnSpPr>
        <p:spPr>
          <a:xfrm>
            <a:off x="5227899" y="3321934"/>
            <a:ext cx="173620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9FA07BD2-A8DB-FF10-1E30-572887632351}"/>
              </a:ext>
            </a:extLst>
          </p:cNvPr>
          <p:cNvSpPr txBox="1"/>
          <p:nvPr/>
        </p:nvSpPr>
        <p:spPr>
          <a:xfrm>
            <a:off x="4168816" y="3463724"/>
            <a:ext cx="3854368" cy="1077218"/>
          </a:xfrm>
          <a:prstGeom prst="rect">
            <a:avLst/>
          </a:prstGeom>
          <a:noFill/>
        </p:spPr>
        <p:txBody>
          <a:bodyPr wrap="square" rtlCol="0">
            <a:spAutoFit/>
          </a:bodyPr>
          <a:lstStyle/>
          <a:p>
            <a:pPr algn="ctr"/>
            <a:r>
              <a:rPr lang="es-ES" sz="1600" dirty="0">
                <a:solidFill>
                  <a:schemeClr val="bg1"/>
                </a:solidFill>
                <a:effectLst>
                  <a:outerShdw blurRad="38100" dist="38100" dir="2700000" algn="tl">
                    <a:srgbClr val="000000">
                      <a:alpha val="43137"/>
                    </a:srgbClr>
                  </a:outerShdw>
                </a:effectLst>
                <a:latin typeface="Work Sans Light" pitchFamily="2" charset="77"/>
              </a:rPr>
              <a:t>Johny Molano Patiño</a:t>
            </a:r>
          </a:p>
          <a:p>
            <a:pPr algn="ctr"/>
            <a:r>
              <a:rPr lang="es-ES" sz="1600" dirty="0">
                <a:solidFill>
                  <a:schemeClr val="bg1"/>
                </a:solidFill>
                <a:effectLst>
                  <a:outerShdw blurRad="38100" dist="38100" dir="2700000" algn="tl">
                    <a:srgbClr val="000000">
                      <a:alpha val="43137"/>
                    </a:srgbClr>
                  </a:outerShdw>
                </a:effectLst>
                <a:latin typeface="Work Sans Light" pitchFamily="2" charset="77"/>
              </a:rPr>
              <a:t>Stiveen David Montiel Canchila</a:t>
            </a:r>
          </a:p>
          <a:p>
            <a:pPr algn="ctr"/>
            <a:r>
              <a:rPr lang="es-ES" sz="1600" dirty="0">
                <a:solidFill>
                  <a:schemeClr val="bg1"/>
                </a:solidFill>
                <a:effectLst>
                  <a:outerShdw blurRad="38100" dist="38100" dir="2700000" algn="tl">
                    <a:srgbClr val="000000">
                      <a:alpha val="43137"/>
                    </a:srgbClr>
                  </a:outerShdw>
                </a:effectLst>
                <a:latin typeface="Work Sans Light" pitchFamily="2" charset="77"/>
              </a:rPr>
              <a:t>Sebastián Enrique Flórez Várelas</a:t>
            </a:r>
          </a:p>
          <a:p>
            <a:pPr algn="ctr"/>
            <a:r>
              <a:rPr lang="es-ES" sz="1600" dirty="0">
                <a:solidFill>
                  <a:schemeClr val="bg1"/>
                </a:solidFill>
                <a:effectLst>
                  <a:outerShdw blurRad="38100" dist="38100" dir="2700000" algn="tl">
                    <a:srgbClr val="000000">
                      <a:alpha val="43137"/>
                    </a:srgbClr>
                  </a:outerShdw>
                </a:effectLst>
                <a:latin typeface="Work Sans Light" pitchFamily="2" charset="77"/>
              </a:rPr>
              <a:t>Samuel Useche Chaparro</a:t>
            </a:r>
          </a:p>
        </p:txBody>
      </p:sp>
      <p:sp>
        <p:nvSpPr>
          <p:cNvPr id="9" name="CuadroTexto 8">
            <a:extLst>
              <a:ext uri="{FF2B5EF4-FFF2-40B4-BE49-F238E27FC236}">
                <a16:creationId xmlns:a16="http://schemas.microsoft.com/office/drawing/2014/main" id="{2F385990-7F30-A8ED-0FEA-F8EAC01BD49D}"/>
              </a:ext>
            </a:extLst>
          </p:cNvPr>
          <p:cNvSpPr txBox="1"/>
          <p:nvPr/>
        </p:nvSpPr>
        <p:spPr>
          <a:xfrm>
            <a:off x="1068888" y="5279998"/>
            <a:ext cx="10054224" cy="584775"/>
          </a:xfrm>
          <a:prstGeom prst="rect">
            <a:avLst/>
          </a:prstGeom>
          <a:noFill/>
        </p:spPr>
        <p:txBody>
          <a:bodyPr wrap="square" rtlCol="0">
            <a:spAutoFit/>
          </a:bodyPr>
          <a:lstStyle/>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Servicio Nacional de Aprendizaje –SENA, Centro de Electricidad Electrónica y Telecomunicaciones</a:t>
            </a:r>
          </a:p>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Técnico en Programación de Software</a:t>
            </a:r>
            <a:endParaRPr lang="es-CO" sz="1600" b="1" dirty="0">
              <a:solidFill>
                <a:schemeClr val="bg1"/>
              </a:solidFill>
              <a:effectLst>
                <a:outerShdw blurRad="38100" dist="38100" dir="2700000" algn="tl">
                  <a:srgbClr val="000000">
                    <a:alpha val="43137"/>
                  </a:srgbClr>
                </a:outerShdw>
              </a:effectLst>
              <a:latin typeface="Work Sans Light" pitchFamily="2" charset="77"/>
            </a:endParaRPr>
          </a:p>
        </p:txBody>
      </p:sp>
    </p:spTree>
    <p:extLst>
      <p:ext uri="{BB962C8B-B14F-4D97-AF65-F5344CB8AC3E}">
        <p14:creationId xmlns:p14="http://schemas.microsoft.com/office/powerpoint/2010/main" val="162078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Problema</a:t>
            </a:r>
          </a:p>
        </p:txBody>
      </p:sp>
      <p:sp>
        <p:nvSpPr>
          <p:cNvPr id="7" name="Rectangle 2">
            <a:extLst>
              <a:ext uri="{FF2B5EF4-FFF2-40B4-BE49-F238E27FC236}">
                <a16:creationId xmlns:a16="http://schemas.microsoft.com/office/drawing/2014/main" id="{4DBF9C27-B8C0-F98D-687D-9BA7777F1E0C}"/>
              </a:ext>
            </a:extLst>
          </p:cNvPr>
          <p:cNvSpPr>
            <a:spLocks noChangeArrowheads="1"/>
          </p:cNvSpPr>
          <p:nvPr/>
        </p:nvSpPr>
        <p:spPr bwMode="auto">
          <a:xfrm>
            <a:off x="959930" y="1758098"/>
            <a:ext cx="1001190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altLang="es-CO" dirty="0">
                <a:latin typeface="Arial" panose="020B0604020202020204" pitchFamily="34" charset="0"/>
              </a:rPr>
              <a:t>El centro de salud ‘Medicentro 93’, ubicado en Calle 93B #17-12, Bogotá, dedicada a prestar servicios de salud de manera privada.</a:t>
            </a:r>
          </a:p>
          <a:p>
            <a:pPr lvl="0" eaLnBrk="0" fontAlgn="base" hangingPunct="0">
              <a:spcBef>
                <a:spcPct val="0"/>
              </a:spcBef>
              <a:spcAft>
                <a:spcPct val="0"/>
              </a:spcAft>
            </a:pPr>
            <a:endParaRPr lang="es-MX" altLang="es-CO" dirty="0">
              <a:latin typeface="Arial" panose="020B0604020202020204" pitchFamily="34" charset="0"/>
            </a:endParaRPr>
          </a:p>
          <a:p>
            <a:pPr lvl="0" eaLnBrk="0" fontAlgn="base" hangingPunct="0">
              <a:spcBef>
                <a:spcPct val="0"/>
              </a:spcBef>
              <a:spcAft>
                <a:spcPct val="0"/>
              </a:spcAft>
            </a:pPr>
            <a:r>
              <a:rPr lang="es-MX" altLang="es-CO" dirty="0">
                <a:latin typeface="Arial" panose="020B0604020202020204" pitchFamily="34" charset="0"/>
              </a:rPr>
              <a:t>Se intervendrá en el proceso de agendamiento de citas y gestión de historial clínico.</a:t>
            </a:r>
          </a:p>
          <a:p>
            <a:pPr lvl="0" eaLnBrk="0" fontAlgn="base" hangingPunct="0">
              <a:spcBef>
                <a:spcPct val="0"/>
              </a:spcBef>
              <a:spcAft>
                <a:spcPct val="0"/>
              </a:spcAft>
            </a:pPr>
            <a:endParaRPr lang="es-MX" altLang="es-CO" dirty="0">
              <a:latin typeface="Arial" panose="020B0604020202020204" pitchFamily="34" charset="0"/>
            </a:endParaRPr>
          </a:p>
          <a:p>
            <a:pPr lvl="0" eaLnBrk="0" fontAlgn="base" hangingPunct="0">
              <a:spcBef>
                <a:spcPct val="0"/>
              </a:spcBef>
              <a:spcAft>
                <a:spcPct val="0"/>
              </a:spcAft>
            </a:pPr>
            <a:r>
              <a:rPr lang="es-MX" altLang="es-CO" dirty="0">
                <a:latin typeface="Arial" panose="020B0604020202020204" pitchFamily="34" charset="0"/>
              </a:rPr>
              <a:t>El análisis de la información: Empleando de las Técnicas e Instrumentos de recolección de datos: Entrevista y Encuesta (Cuestionario). Realizadas a pacientes y algunos de los médicos que se alojan en el centro de salud.</a:t>
            </a:r>
            <a:br>
              <a:rPr lang="es-MX" altLang="es-CO" dirty="0">
                <a:latin typeface="Arial" panose="020B0604020202020204" pitchFamily="34" charset="0"/>
              </a:rPr>
            </a:br>
            <a:endParaRPr lang="es-MX" altLang="es-CO" dirty="0">
              <a:latin typeface="Arial" panose="020B0604020202020204" pitchFamily="34" charset="0"/>
            </a:endParaRPr>
          </a:p>
          <a:p>
            <a:pPr lvl="0" eaLnBrk="0" fontAlgn="base" hangingPunct="0">
              <a:spcBef>
                <a:spcPct val="0"/>
              </a:spcBef>
              <a:spcAft>
                <a:spcPct val="0"/>
              </a:spcAft>
            </a:pPr>
            <a:r>
              <a:rPr lang="es-MX" altLang="es-CO" dirty="0">
                <a:latin typeface="Arial" panose="020B0604020202020204" pitchFamily="34" charset="0"/>
              </a:rPr>
              <a:t>Las necesidades encontradas: En el proceso de agendamiento de citas (El proceso se maneja un contacto directo entre el doctor y el paciente, sin embargo el doctor debe de comunicar esta cita con la secretaria de turno, para que ella gestione la agenda del doctor haciendo el proceso largo, y causando muchas veces errores humanos en los que las citas no se agendaban correctamente). Proceso de gestión del historial clínico(El proceso de registrar novedades tras cada cita se hacia por medio de hojas, lo cual disminuía la integridad de la información, pudiendo perderse, da</a:t>
            </a:r>
            <a:r>
              <a:rPr lang="es-CO" altLang="es-CO" dirty="0">
                <a:latin typeface="Arial" panose="020B0604020202020204" pitchFamily="34" charset="0"/>
              </a:rPr>
              <a:t>ñ</a:t>
            </a:r>
            <a:r>
              <a:rPr lang="en-US" altLang="es-CO" dirty="0" err="1">
                <a:latin typeface="Arial" panose="020B0604020202020204" pitchFamily="34" charset="0"/>
              </a:rPr>
              <a:t>arse</a:t>
            </a:r>
            <a:r>
              <a:rPr lang="en-US" altLang="es-CO" dirty="0">
                <a:latin typeface="Arial" panose="020B0604020202020204" pitchFamily="34" charset="0"/>
              </a:rPr>
              <a:t> o que </a:t>
            </a:r>
            <a:r>
              <a:rPr lang="en-US" altLang="es-CO" dirty="0" err="1">
                <a:latin typeface="Arial" panose="020B0604020202020204" pitchFamily="34" charset="0"/>
              </a:rPr>
              <a:t>estuviera</a:t>
            </a:r>
            <a:r>
              <a:rPr lang="en-US" altLang="es-CO" dirty="0">
                <a:latin typeface="Arial" panose="020B0604020202020204" pitchFamily="34" charset="0"/>
              </a:rPr>
              <a:t> </a:t>
            </a:r>
            <a:r>
              <a:rPr lang="en-US" altLang="es-CO" dirty="0" err="1">
                <a:latin typeface="Arial" panose="020B0604020202020204" pitchFamily="34" charset="0"/>
              </a:rPr>
              <a:t>en</a:t>
            </a:r>
            <a:r>
              <a:rPr lang="en-US" altLang="es-CO" dirty="0">
                <a:latin typeface="Arial" panose="020B0604020202020204" pitchFamily="34" charset="0"/>
              </a:rPr>
              <a:t> </a:t>
            </a:r>
            <a:r>
              <a:rPr lang="en-US" altLang="es-CO" dirty="0" err="1">
                <a:latin typeface="Arial" panose="020B0604020202020204" pitchFamily="34" charset="0"/>
              </a:rPr>
              <a:t>varias</a:t>
            </a:r>
            <a:r>
              <a:rPr lang="en-US" altLang="es-CO" dirty="0">
                <a:latin typeface="Arial" panose="020B0604020202020204" pitchFamily="34" charset="0"/>
              </a:rPr>
              <a:t> manos antes de </a:t>
            </a:r>
            <a:r>
              <a:rPr lang="en-US" altLang="es-CO" dirty="0" err="1">
                <a:latin typeface="Arial" panose="020B0604020202020204" pitchFamily="34" charset="0"/>
              </a:rPr>
              <a:t>llegar</a:t>
            </a:r>
            <a:r>
              <a:rPr lang="en-US" altLang="es-CO" dirty="0">
                <a:latin typeface="Arial" panose="020B0604020202020204" pitchFamily="34" charset="0"/>
              </a:rPr>
              <a:t> a </a:t>
            </a:r>
            <a:r>
              <a:rPr lang="en-US" altLang="es-CO" dirty="0" err="1">
                <a:latin typeface="Arial" panose="020B0604020202020204" pitchFamily="34" charset="0"/>
              </a:rPr>
              <a:t>su</a:t>
            </a:r>
            <a:r>
              <a:rPr lang="en-US" altLang="es-CO" dirty="0">
                <a:latin typeface="Arial" panose="020B0604020202020204" pitchFamily="34" charset="0"/>
              </a:rPr>
              <a:t> </a:t>
            </a:r>
            <a:r>
              <a:rPr lang="en-US" altLang="es-CO" dirty="0" err="1">
                <a:latin typeface="Arial" panose="020B0604020202020204" pitchFamily="34" charset="0"/>
              </a:rPr>
              <a:t>destino</a:t>
            </a:r>
            <a:r>
              <a:rPr lang="en-US" altLang="es-CO" dirty="0">
                <a:latin typeface="Arial" panose="020B0604020202020204" pitchFamily="34" charset="0"/>
              </a:rPr>
              <a:t> final</a:t>
            </a:r>
            <a:r>
              <a:rPr lang="es-MX" altLang="es-CO" dirty="0">
                <a:latin typeface="Arial" panose="020B0604020202020204" pitchFamily="34" charset="0"/>
              </a:rPr>
              <a:t>). </a:t>
            </a: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888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EE37A3CD-1BAC-6175-4755-9AC66A46B6FF}"/>
              </a:ext>
            </a:extLst>
          </p:cNvPr>
          <p:cNvSpPr txBox="1">
            <a:spLocks/>
          </p:cNvSpPr>
          <p:nvPr/>
        </p:nvSpPr>
        <p:spPr>
          <a:xfrm>
            <a:off x="4057507" y="305092"/>
            <a:ext cx="4076985" cy="961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sz="3200" dirty="0">
                <a:solidFill>
                  <a:srgbClr val="38AA00"/>
                </a:solidFill>
                <a:latin typeface="Arial" panose="020B0604020202020204" pitchFamily="34" charset="0"/>
                <a:cs typeface="Arial" panose="020B0604020202020204" pitchFamily="34" charset="0"/>
              </a:rPr>
              <a:t>Objetivo General y especifico</a:t>
            </a:r>
          </a:p>
          <a:p>
            <a:pPr algn="ctr"/>
            <a:endParaRPr lang="es-CO" sz="3200" dirty="0">
              <a:solidFill>
                <a:srgbClr val="38AA00"/>
              </a:solidFill>
              <a:latin typeface="Work Sans Light" pitchFamily="2" charset="77"/>
            </a:endParaRPr>
          </a:p>
        </p:txBody>
      </p:sp>
      <p:sp>
        <p:nvSpPr>
          <p:cNvPr id="7" name="CuadroTexto 6">
            <a:extLst>
              <a:ext uri="{FF2B5EF4-FFF2-40B4-BE49-F238E27FC236}">
                <a16:creationId xmlns:a16="http://schemas.microsoft.com/office/drawing/2014/main" id="{FBAA83CA-F5E1-3945-40AB-1CB1B233A0BF}"/>
              </a:ext>
            </a:extLst>
          </p:cNvPr>
          <p:cNvSpPr txBox="1"/>
          <p:nvPr/>
        </p:nvSpPr>
        <p:spPr>
          <a:xfrm>
            <a:off x="1549121" y="1936283"/>
            <a:ext cx="9093758" cy="2985433"/>
          </a:xfrm>
          <a:prstGeom prst="rect">
            <a:avLst/>
          </a:prstGeom>
          <a:noFill/>
        </p:spPr>
        <p:txBody>
          <a:bodyPr wrap="square" rtlCol="0">
            <a:spAutoFit/>
          </a:bodyPr>
          <a:lstStyle/>
          <a:p>
            <a:r>
              <a:rPr lang="es-MX" b="1" dirty="0">
                <a:latin typeface="Arial" panose="020B0604020202020204" pitchFamily="34" charset="0"/>
              </a:rPr>
              <a:t>Objetivo General:</a:t>
            </a:r>
            <a:br>
              <a:rPr lang="es-MX" dirty="0">
                <a:latin typeface="Arial" panose="020B0604020202020204" pitchFamily="34" charset="0"/>
              </a:rPr>
            </a:br>
            <a:r>
              <a:rPr lang="es-MX" dirty="0">
                <a:latin typeface="Arial" panose="020B0604020202020204" pitchFamily="34" charset="0"/>
              </a:rPr>
              <a:t>Desarrollar un sistema de información para medicentro 93, donde se pueda mejorar la gestión administrativa de los procesos de agendamiento de citas y gestión de historial clínico dentro de la institución.</a:t>
            </a:r>
          </a:p>
          <a:p>
            <a:endParaRPr lang="es-MX" dirty="0">
              <a:latin typeface="Arial" panose="020B0604020202020204" pitchFamily="34" charset="0"/>
            </a:endParaRPr>
          </a:p>
          <a:p>
            <a:r>
              <a:rPr lang="es-MX" b="1" dirty="0">
                <a:latin typeface="Arial" panose="020B0604020202020204" pitchFamily="34" charset="0"/>
              </a:rPr>
              <a:t>Objetivos Específicos:</a:t>
            </a:r>
          </a:p>
          <a:p>
            <a:pPr marL="342900" indent="-342900">
              <a:buFont typeface="+mj-lt"/>
              <a:buAutoNum type="arabicPeriod"/>
            </a:pPr>
            <a:r>
              <a:rPr lang="es-CO" sz="1600" dirty="0">
                <a:latin typeface="Arial" panose="020B0604020202020204" pitchFamily="34" charset="0"/>
                <a:cs typeface="Arial" panose="020B0604020202020204" pitchFamily="34" charset="0"/>
              </a:rPr>
              <a:t>Gestionar el agendamiento de citas</a:t>
            </a:r>
          </a:p>
          <a:p>
            <a:pPr marL="342900" indent="-342900">
              <a:buFont typeface="+mj-lt"/>
              <a:buAutoNum type="arabicPeriod"/>
            </a:pPr>
            <a:r>
              <a:rPr lang="es-CO" sz="1600" dirty="0">
                <a:latin typeface="Arial" panose="020B0604020202020204" pitchFamily="34" charset="0"/>
                <a:cs typeface="Arial" panose="020B0604020202020204" pitchFamily="34" charset="0"/>
              </a:rPr>
              <a:t>Gestionar usuarios y autenticación </a:t>
            </a:r>
          </a:p>
          <a:p>
            <a:pPr marL="342900" indent="-342900">
              <a:buFont typeface="+mj-lt"/>
              <a:buAutoNum type="arabicPeriod"/>
            </a:pPr>
            <a:r>
              <a:rPr lang="es-CO" sz="1600" dirty="0">
                <a:latin typeface="Arial" panose="020B0604020202020204" pitchFamily="34" charset="0"/>
                <a:cs typeface="Arial" panose="020B0604020202020204" pitchFamily="34" charset="0"/>
              </a:rPr>
              <a:t>Gestionar agenda de doctor</a:t>
            </a:r>
          </a:p>
          <a:p>
            <a:pPr marL="342900" indent="-342900">
              <a:buFont typeface="+mj-lt"/>
              <a:buAutoNum type="arabicPeriod"/>
            </a:pPr>
            <a:r>
              <a:rPr lang="es-CO" sz="1600" dirty="0">
                <a:latin typeface="Arial" panose="020B0604020202020204" pitchFamily="34" charset="0"/>
                <a:cs typeface="Arial" panose="020B0604020202020204" pitchFamily="34" charset="0"/>
              </a:rPr>
              <a:t>Gestionar Historial clínico</a:t>
            </a:r>
          </a:p>
          <a:p>
            <a:pPr marL="342900" indent="-342900">
              <a:buFont typeface="+mj-lt"/>
              <a:buAutoNum type="arabicPeriod"/>
            </a:pPr>
            <a:r>
              <a:rPr lang="es-CO" sz="1600" dirty="0">
                <a:latin typeface="Arial" panose="020B0604020202020204" pitchFamily="34" charset="0"/>
                <a:cs typeface="Arial" panose="020B0604020202020204" pitchFamily="34" charset="0"/>
              </a:rPr>
              <a:t>Gestionar Publicaciones</a:t>
            </a:r>
          </a:p>
        </p:txBody>
      </p:sp>
    </p:spTree>
    <p:extLst>
      <p:ext uri="{BB962C8B-B14F-4D97-AF65-F5344CB8AC3E}">
        <p14:creationId xmlns:p14="http://schemas.microsoft.com/office/powerpoint/2010/main" val="591205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Justificación</a:t>
            </a:r>
          </a:p>
        </p:txBody>
      </p:sp>
      <p:sp>
        <p:nvSpPr>
          <p:cNvPr id="5" name="CuadroTexto 4">
            <a:extLst>
              <a:ext uri="{FF2B5EF4-FFF2-40B4-BE49-F238E27FC236}">
                <a16:creationId xmlns:a16="http://schemas.microsoft.com/office/drawing/2014/main" id="{130318A2-4A2A-C7C8-2C87-4D56B686D428}"/>
              </a:ext>
            </a:extLst>
          </p:cNvPr>
          <p:cNvSpPr txBox="1"/>
          <p:nvPr/>
        </p:nvSpPr>
        <p:spPr>
          <a:xfrm>
            <a:off x="721984" y="2272108"/>
            <a:ext cx="10748031" cy="3693319"/>
          </a:xfrm>
          <a:prstGeom prst="rect">
            <a:avLst/>
          </a:prstGeom>
          <a:noFill/>
        </p:spPr>
        <p:txBody>
          <a:bodyPr wrap="square">
            <a:spAutoFit/>
          </a:bodyPr>
          <a:lstStyle/>
          <a:p>
            <a:r>
              <a:rPr lang="es-CO" dirty="0">
                <a:latin typeface="Arial" panose="020B0604020202020204" pitchFamily="34" charset="0"/>
                <a:cs typeface="Arial" panose="020B0604020202020204" pitchFamily="34" charset="0"/>
              </a:rPr>
              <a:t>La solución: Se propone el desarrollo de un Sistema de Información Web denominado Health Connection que sirva como</a:t>
            </a:r>
          </a:p>
          <a:p>
            <a:r>
              <a:rPr lang="es-CO" dirty="0">
                <a:latin typeface="Arial" panose="020B0604020202020204" pitchFamily="34" charset="0"/>
                <a:cs typeface="Arial" panose="020B0604020202020204" pitchFamily="34" charset="0"/>
              </a:rPr>
              <a:t>herramienta software de apoyo al seguimiento delos procesos de agendamiento de citas y gestión de historial clínico dentro de la empresa Medicentro 93.</a:t>
            </a:r>
          </a:p>
          <a:p>
            <a:endParaRPr lang="es-CO" dirty="0">
              <a:latin typeface="Arial" panose="020B0604020202020204" pitchFamily="34" charset="0"/>
              <a:cs typeface="Arial" panose="020B0604020202020204" pitchFamily="34" charset="0"/>
            </a:endParaRPr>
          </a:p>
          <a:p>
            <a:r>
              <a:rPr lang="es-CO" dirty="0">
                <a:latin typeface="Arial" panose="020B0604020202020204" pitchFamily="34" charset="0"/>
                <a:cs typeface="Arial" panose="020B0604020202020204" pitchFamily="34" charset="0"/>
              </a:rPr>
              <a:t>La importancia del Sistema: Permitirá la gestión de los pacientes, administradores, doctores y personal administrativo(staff) como usuarios de la Empresa Medicentro 93.  En el proceso de agendamiento de citas los pacientes podrán solicitar sus citas con el doctor que deseen consultando el horario y disponibilidad del doctor para el día que desean la cita. En Proceso de gestión de historial clínico los Doctores podrán adjuntar observaciones tras atender cada citas de cada paciente.</a:t>
            </a:r>
          </a:p>
          <a:p>
            <a:endParaRPr lang="es-CO" dirty="0">
              <a:latin typeface="Arial" panose="020B0604020202020204" pitchFamily="34" charset="0"/>
              <a:cs typeface="Arial" panose="020B0604020202020204" pitchFamily="34" charset="0"/>
            </a:endParaRPr>
          </a:p>
          <a:p>
            <a:r>
              <a:rPr lang="es-CO" dirty="0">
                <a:latin typeface="Arial" panose="020B0604020202020204" pitchFamily="34" charset="0"/>
                <a:cs typeface="Arial" panose="020B0604020202020204" pitchFamily="34" charset="0"/>
              </a:rPr>
              <a:t>El aporte al Sector: El Sistema Health Connection servirá como aporte al sector Administrativo y logístico de la empresa.</a:t>
            </a:r>
          </a:p>
        </p:txBody>
      </p:sp>
    </p:spTree>
    <p:extLst>
      <p:ext uri="{BB962C8B-B14F-4D97-AF65-F5344CB8AC3E}">
        <p14:creationId xmlns:p14="http://schemas.microsoft.com/office/powerpoint/2010/main" val="1401254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Alcance</a:t>
            </a:r>
          </a:p>
        </p:txBody>
      </p:sp>
      <p:sp>
        <p:nvSpPr>
          <p:cNvPr id="6" name="CuadroTexto 5">
            <a:extLst>
              <a:ext uri="{FF2B5EF4-FFF2-40B4-BE49-F238E27FC236}">
                <a16:creationId xmlns:a16="http://schemas.microsoft.com/office/drawing/2014/main" id="{0CA39C3C-B25E-C804-C832-61458138A925}"/>
              </a:ext>
            </a:extLst>
          </p:cNvPr>
          <p:cNvSpPr txBox="1"/>
          <p:nvPr/>
        </p:nvSpPr>
        <p:spPr>
          <a:xfrm>
            <a:off x="57778" y="1436044"/>
            <a:ext cx="12076444" cy="5355312"/>
          </a:xfrm>
          <a:prstGeom prst="rect">
            <a:avLst/>
          </a:prstGeom>
          <a:noFill/>
        </p:spPr>
        <p:txBody>
          <a:bodyPr wrap="square" rtlCol="0">
            <a:spAutoFit/>
          </a:bodyPr>
          <a:lstStyle/>
          <a:p>
            <a:r>
              <a:rPr lang="es-MX" b="1" dirty="0">
                <a:latin typeface="Arial" panose="020B0604020202020204" pitchFamily="34" charset="0"/>
                <a:cs typeface="Arial" panose="020B0604020202020204" pitchFamily="34" charset="0"/>
              </a:rPr>
              <a:t>Funcionalidades del sistema</a:t>
            </a:r>
          </a:p>
          <a:p>
            <a:r>
              <a:rPr lang="es-MX" dirty="0">
                <a:latin typeface="Arial" panose="020B0604020202020204" pitchFamily="34" charset="0"/>
                <a:cs typeface="Arial" panose="020B0604020202020204" pitchFamily="34" charset="0"/>
              </a:rPr>
              <a:t>El sistema permitirá:</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Gestionar usuarios (administradores, pacientes, doctores y personal de staff).</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Administrar y dar seguimiento a la agenda médica.</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Coordinar y organizar eficientemente el agendamiento de citas.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Gestionar publicaciones internas.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Registrar y consultar el historial clínico de los pacientes dentro de la institución.</a:t>
            </a:r>
          </a:p>
          <a:p>
            <a:endParaRPr lang="es-MX"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El sistema </a:t>
            </a:r>
            <a:r>
              <a:rPr lang="es-MX" b="1" dirty="0">
                <a:latin typeface="Arial" panose="020B0604020202020204" pitchFamily="34" charset="0"/>
                <a:cs typeface="Arial" panose="020B0604020202020204" pitchFamily="34" charset="0"/>
              </a:rPr>
              <a:t>no permitirá</a:t>
            </a:r>
            <a:r>
              <a:rPr lang="es-MX"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Entrega o gestión de medicamentos.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Gestión de procesos de contratación de personal.</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Generación de estadísticas ni reportes analíticos.</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Tecnologías utilizadas</a:t>
            </a:r>
          </a:p>
          <a:p>
            <a:r>
              <a:rPr lang="es-MX" dirty="0">
                <a:latin typeface="Arial" panose="020B0604020202020204" pitchFamily="34" charset="0"/>
                <a:cs typeface="Arial" panose="020B0604020202020204" pitchFamily="34" charset="0"/>
              </a:rPr>
              <a:t>El sistema ha sido desarrollado siguiendo los principios de </a:t>
            </a:r>
            <a:r>
              <a:rPr lang="es-MX" b="1" dirty="0">
                <a:latin typeface="Arial" panose="020B0604020202020204" pitchFamily="34" charset="0"/>
                <a:cs typeface="Arial" panose="020B0604020202020204" pitchFamily="34" charset="0"/>
              </a:rPr>
              <a:t>arquitectura limpia</a:t>
            </a:r>
            <a:r>
              <a:rPr lang="es-MX" dirty="0">
                <a:latin typeface="Arial" panose="020B0604020202020204" pitchFamily="34" charset="0"/>
                <a:cs typeface="Arial" panose="020B0604020202020204" pitchFamily="34" charset="0"/>
              </a:rPr>
              <a:t>, lo que garantiza una separación clara entre capas y facilita su mantenimiento y escalabilidad.</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Backend:</a:t>
            </a:r>
            <a:r>
              <a:rPr lang="es-MX" dirty="0">
                <a:latin typeface="Arial" panose="020B0604020202020204" pitchFamily="34" charset="0"/>
                <a:cs typeface="Arial" panose="020B0604020202020204" pitchFamily="34" charset="0"/>
              </a:rPr>
              <a:t> construido con Node.js y Express, utilizando PostgreSQL como base de datos y Sequelize como ORM.</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Frontend:</a:t>
            </a:r>
            <a:r>
              <a:rPr lang="es-MX" dirty="0">
                <a:latin typeface="Arial" panose="020B0604020202020204" pitchFamily="34" charset="0"/>
                <a:cs typeface="Arial" panose="020B0604020202020204" pitchFamily="34" charset="0"/>
              </a:rPr>
              <a:t> desarrollado con React y empaquetado con Vite. Para los estilos, se emplea Tailwind CSS, lo que permite una interfaz moderna, rápida y responsiva.</a:t>
            </a:r>
          </a:p>
        </p:txBody>
      </p:sp>
    </p:spTree>
    <p:extLst>
      <p:ext uri="{BB962C8B-B14F-4D97-AF65-F5344CB8AC3E}">
        <p14:creationId xmlns:p14="http://schemas.microsoft.com/office/powerpoint/2010/main" val="3849793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normAutofit/>
          </a:bodyPr>
          <a:lstStyle/>
          <a:p>
            <a:r>
              <a:rPr lang="es-ES" sz="3200" dirty="0">
                <a:solidFill>
                  <a:schemeClr val="bg1"/>
                </a:solidFill>
                <a:latin typeface="Work Sans Medium" pitchFamily="2" charset="77"/>
              </a:rPr>
              <a:t>Entregables Proyecto Formativo</a:t>
            </a:r>
            <a:br>
              <a:rPr lang="es-ES" sz="3200" dirty="0">
                <a:solidFill>
                  <a:schemeClr val="bg1"/>
                </a:solidFill>
                <a:latin typeface="Work Sans Medium" pitchFamily="2" charset="77"/>
              </a:rPr>
            </a:br>
            <a:endParaRPr lang="es-CO" sz="3200" dirty="0">
              <a:solidFill>
                <a:schemeClr val="bg1"/>
              </a:solidFill>
              <a:latin typeface="Work Sans Medium" pitchFamily="2" charset="77"/>
            </a:endParaRPr>
          </a:p>
        </p:txBody>
      </p:sp>
      <p:sp>
        <p:nvSpPr>
          <p:cNvPr id="25" name="CuadroTexto 24">
            <a:extLst>
              <a:ext uri="{FF2B5EF4-FFF2-40B4-BE49-F238E27FC236}">
                <a16:creationId xmlns:a16="http://schemas.microsoft.com/office/drawing/2014/main" id="{ECCF2336-24C1-7B7D-C6B6-ECB6A1DAFDEA}"/>
              </a:ext>
            </a:extLst>
          </p:cNvPr>
          <p:cNvSpPr txBox="1"/>
          <p:nvPr/>
        </p:nvSpPr>
        <p:spPr>
          <a:xfrm>
            <a:off x="3261177" y="2736502"/>
            <a:ext cx="5581372" cy="2308324"/>
          </a:xfrm>
          <a:prstGeom prst="rect">
            <a:avLst/>
          </a:prstGeom>
          <a:noFill/>
        </p:spPr>
        <p:txBody>
          <a:bodyPr wrap="square" rtlCol="0">
            <a:spAutoFit/>
          </a:bodyPr>
          <a:lstStyle/>
          <a:p>
            <a:pPr marL="171450" indent="-171450">
              <a:buFont typeface="Arial" panose="020B0604020202020204" pitchFamily="34" charset="0"/>
              <a:buChar char="•"/>
            </a:pPr>
            <a:r>
              <a:rPr lang="es-MX" dirty="0">
                <a:latin typeface="Arial" panose="020B0604020202020204" pitchFamily="34" charset="0"/>
                <a:cs typeface="Arial" panose="020B0604020202020204" pitchFamily="34" charset="0"/>
              </a:rPr>
              <a:t>Manual de Usuario, Instalación y Técnico</a:t>
            </a:r>
          </a:p>
          <a:p>
            <a:pPr marL="171450" indent="-171450">
              <a:buFont typeface="Arial" panose="020B0604020202020204" pitchFamily="34" charset="0"/>
              <a:buChar char="•"/>
            </a:pPr>
            <a:r>
              <a:rPr lang="es-MX" dirty="0">
                <a:latin typeface="Arial" panose="020B0604020202020204" pitchFamily="34" charset="0"/>
                <a:cs typeface="Arial" panose="020B0604020202020204" pitchFamily="34" charset="0"/>
              </a:rPr>
              <a:t>Planes de respaldo, migración, instalación y pruebas</a:t>
            </a:r>
          </a:p>
          <a:p>
            <a:pPr marL="171450" indent="-171450">
              <a:buFont typeface="Arial" panose="020B0604020202020204" pitchFamily="34" charset="0"/>
              <a:buChar char="•"/>
            </a:pPr>
            <a:r>
              <a:rPr lang="es-MX" dirty="0">
                <a:latin typeface="Arial" panose="020B0604020202020204" pitchFamily="34" charset="0"/>
                <a:cs typeface="Arial" panose="020B0604020202020204" pitchFamily="34" charset="0"/>
              </a:rPr>
              <a:t>Sistema de Información Web desplegado en la nube </a:t>
            </a:r>
          </a:p>
          <a:p>
            <a:pPr marL="171450" indent="-1714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MX" dirty="0">
                <a:latin typeface="Arial" panose="020B0604020202020204" pitchFamily="34" charset="0"/>
                <a:cs typeface="Arial" panose="020B0604020202020204" pitchFamily="34" charset="0"/>
                <a:hlinkClick r:id="rId3"/>
              </a:rPr>
              <a:t>https://github.com/little-Johny/HealthConnection.git</a:t>
            </a:r>
            <a:endParaRPr lang="es-MX" dirty="0">
              <a:latin typeface="Arial" panose="020B0604020202020204" pitchFamily="34" charset="0"/>
              <a:cs typeface="Arial" panose="020B0604020202020204" pitchFamily="34" charset="0"/>
            </a:endParaRPr>
          </a:p>
        </p:txBody>
      </p:sp>
      <p:sp>
        <p:nvSpPr>
          <p:cNvPr id="3" name="Título 1">
            <a:extLst>
              <a:ext uri="{FF2B5EF4-FFF2-40B4-BE49-F238E27FC236}">
                <a16:creationId xmlns:a16="http://schemas.microsoft.com/office/drawing/2014/main" id="{EABF9A05-8CAD-B22B-9901-97A124EB0E61}"/>
              </a:ext>
            </a:extLst>
          </p:cNvPr>
          <p:cNvSpPr txBox="1">
            <a:spLocks/>
          </p:cNvSpPr>
          <p:nvPr/>
        </p:nvSpPr>
        <p:spPr>
          <a:xfrm>
            <a:off x="3800051" y="1605773"/>
            <a:ext cx="4076985" cy="961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sz="3200" dirty="0">
                <a:solidFill>
                  <a:srgbClr val="38AA00"/>
                </a:solidFill>
                <a:latin typeface="Arial" panose="020B0604020202020204" pitchFamily="34" charset="0"/>
                <a:cs typeface="Arial" panose="020B0604020202020204" pitchFamily="34" charset="0"/>
              </a:rPr>
              <a:t>Sexto trimestre</a:t>
            </a:r>
          </a:p>
          <a:p>
            <a:pPr algn="ctr"/>
            <a:endParaRPr lang="es-CO" sz="3200" dirty="0">
              <a:solidFill>
                <a:srgbClr val="38AA00"/>
              </a:solidFill>
              <a:latin typeface="Work Sans Light" pitchFamily="2" charset="77"/>
            </a:endParaRPr>
          </a:p>
        </p:txBody>
      </p:sp>
    </p:spTree>
    <p:extLst>
      <p:ext uri="{BB962C8B-B14F-4D97-AF65-F5344CB8AC3E}">
        <p14:creationId xmlns:p14="http://schemas.microsoft.com/office/powerpoint/2010/main" val="2843109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3716</TotalTime>
  <Words>655</Words>
  <Application>Microsoft Office PowerPoint</Application>
  <PresentationFormat>Panorámica</PresentationFormat>
  <Paragraphs>60</Paragraphs>
  <Slides>8</Slides>
  <Notes>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Calibri</vt:lpstr>
      <vt:lpstr>Calibri Light</vt:lpstr>
      <vt:lpstr>Work Sans Light</vt:lpstr>
      <vt:lpstr>Work Sans Medium</vt:lpstr>
      <vt:lpstr>Tema de Office</vt:lpstr>
      <vt:lpstr>Presentación de PowerPoint</vt:lpstr>
      <vt:lpstr>Presentación de PowerPoint</vt:lpstr>
      <vt:lpstr>Problema</vt:lpstr>
      <vt:lpstr>Presentación de PowerPoint</vt:lpstr>
      <vt:lpstr>Justificación</vt:lpstr>
      <vt:lpstr>Alcance</vt:lpstr>
      <vt:lpstr>Entregables Proyecto Formativo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johny molano</cp:lastModifiedBy>
  <cp:revision>77</cp:revision>
  <dcterms:created xsi:type="dcterms:W3CDTF">2020-10-01T23:51:28Z</dcterms:created>
  <dcterms:modified xsi:type="dcterms:W3CDTF">2025-06-12T15:08:06Z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